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7" r:id="rId10"/>
    <p:sldId id="290" r:id="rId11"/>
    <p:sldId id="288" r:id="rId12"/>
    <p:sldId id="289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4" r:id="rId33"/>
    <p:sldId id="285" r:id="rId34"/>
    <p:sldId id="291" r:id="rId35"/>
    <p:sldId id="286" r:id="rId3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C40ED-349E-4F92-807B-506BD47564CD}" v="1" dt="2026-03-05T05:02:11.0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12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64646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64646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64646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64646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69722"/>
            <a:ext cx="9013825" cy="6693534"/>
          </a:xfrm>
          <a:custGeom>
            <a:avLst/>
            <a:gdLst/>
            <a:ahLst/>
            <a:cxnLst/>
            <a:rect l="l" t="t" r="r" b="b"/>
            <a:pathLst>
              <a:path w="9013825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3498" y="0"/>
                </a:lnTo>
                <a:lnTo>
                  <a:pt x="8732228" y="3576"/>
                </a:lnTo>
                <a:lnTo>
                  <a:pt x="8778740" y="13967"/>
                </a:lnTo>
                <a:lnTo>
                  <a:pt x="8822525" y="30662"/>
                </a:lnTo>
                <a:lnTo>
                  <a:pt x="8863071" y="53151"/>
                </a:lnTo>
                <a:lnTo>
                  <a:pt x="8899868" y="80923"/>
                </a:lnTo>
                <a:lnTo>
                  <a:pt x="8932405" y="113468"/>
                </a:lnTo>
                <a:lnTo>
                  <a:pt x="8960172" y="150277"/>
                </a:lnTo>
                <a:lnTo>
                  <a:pt x="8982656" y="190840"/>
                </a:lnTo>
                <a:lnTo>
                  <a:pt x="8999349" y="234645"/>
                </a:lnTo>
                <a:lnTo>
                  <a:pt x="9009740" y="281184"/>
                </a:lnTo>
                <a:lnTo>
                  <a:pt x="9013317" y="329946"/>
                </a:lnTo>
                <a:lnTo>
                  <a:pt x="9013317" y="6363525"/>
                </a:lnTo>
                <a:lnTo>
                  <a:pt x="9009740" y="6412277"/>
                </a:lnTo>
                <a:lnTo>
                  <a:pt x="8999349" y="6458809"/>
                </a:lnTo>
                <a:lnTo>
                  <a:pt x="8982656" y="6502609"/>
                </a:lnTo>
                <a:lnTo>
                  <a:pt x="8960172" y="6543167"/>
                </a:lnTo>
                <a:lnTo>
                  <a:pt x="8932405" y="6579973"/>
                </a:lnTo>
                <a:lnTo>
                  <a:pt x="8899868" y="6612517"/>
                </a:lnTo>
                <a:lnTo>
                  <a:pt x="8863071" y="6640288"/>
                </a:lnTo>
                <a:lnTo>
                  <a:pt x="8822525" y="6662776"/>
                </a:lnTo>
                <a:lnTo>
                  <a:pt x="8778740" y="6679471"/>
                </a:lnTo>
                <a:lnTo>
                  <a:pt x="8732228" y="6689862"/>
                </a:lnTo>
                <a:lnTo>
                  <a:pt x="8683498" y="6693439"/>
                </a:lnTo>
                <a:lnTo>
                  <a:pt x="329920" y="6693439"/>
                </a:lnTo>
                <a:lnTo>
                  <a:pt x="281168" y="6689862"/>
                </a:lnTo>
                <a:lnTo>
                  <a:pt x="234636" y="6679471"/>
                </a:lnTo>
                <a:lnTo>
                  <a:pt x="190835" y="6662776"/>
                </a:lnTo>
                <a:lnTo>
                  <a:pt x="150276" y="6640288"/>
                </a:lnTo>
                <a:lnTo>
                  <a:pt x="113469" y="6612517"/>
                </a:lnTo>
                <a:lnTo>
                  <a:pt x="80925" y="6579973"/>
                </a:lnTo>
                <a:lnTo>
                  <a:pt x="53153" y="6543167"/>
                </a:lnTo>
                <a:lnTo>
                  <a:pt x="30664" y="6502609"/>
                </a:lnTo>
                <a:lnTo>
                  <a:pt x="13968" y="6458809"/>
                </a:lnTo>
                <a:lnTo>
                  <a:pt x="3577" y="6412277"/>
                </a:lnTo>
                <a:lnTo>
                  <a:pt x="0" y="6363525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444" y="688974"/>
            <a:ext cx="674370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64646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4329"/>
            <a:ext cx="7925434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.png"/><Relationship Id="rId21" Type="http://schemas.openxmlformats.org/officeDocument/2006/relationships/image" Target="../media/image41.png"/><Relationship Id="rId42" Type="http://schemas.openxmlformats.org/officeDocument/2006/relationships/image" Target="../media/image62.png"/><Relationship Id="rId47" Type="http://schemas.openxmlformats.org/officeDocument/2006/relationships/image" Target="../media/image67.png"/><Relationship Id="rId63" Type="http://schemas.openxmlformats.org/officeDocument/2006/relationships/image" Target="../media/image83.png"/><Relationship Id="rId68" Type="http://schemas.openxmlformats.org/officeDocument/2006/relationships/image" Target="../media/image88.png"/><Relationship Id="rId16" Type="http://schemas.openxmlformats.org/officeDocument/2006/relationships/image" Target="../media/image3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37" Type="http://schemas.openxmlformats.org/officeDocument/2006/relationships/image" Target="../media/image57.png"/><Relationship Id="rId40" Type="http://schemas.openxmlformats.org/officeDocument/2006/relationships/image" Target="../media/image60.png"/><Relationship Id="rId45" Type="http://schemas.openxmlformats.org/officeDocument/2006/relationships/image" Target="../media/image65.png"/><Relationship Id="rId53" Type="http://schemas.openxmlformats.org/officeDocument/2006/relationships/image" Target="../media/image73.png"/><Relationship Id="rId58" Type="http://schemas.openxmlformats.org/officeDocument/2006/relationships/image" Target="../media/image78.png"/><Relationship Id="rId66" Type="http://schemas.openxmlformats.org/officeDocument/2006/relationships/image" Target="../media/image86.png"/><Relationship Id="rId74" Type="http://schemas.openxmlformats.org/officeDocument/2006/relationships/image" Target="../media/image94.png"/><Relationship Id="rId5" Type="http://schemas.openxmlformats.org/officeDocument/2006/relationships/image" Target="../media/image25.png"/><Relationship Id="rId61" Type="http://schemas.openxmlformats.org/officeDocument/2006/relationships/image" Target="../media/image81.png"/><Relationship Id="rId19" Type="http://schemas.openxmlformats.org/officeDocument/2006/relationships/image" Target="../media/image3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png"/><Relationship Id="rId43" Type="http://schemas.openxmlformats.org/officeDocument/2006/relationships/image" Target="../media/image63.png"/><Relationship Id="rId48" Type="http://schemas.openxmlformats.org/officeDocument/2006/relationships/image" Target="../media/image68.png"/><Relationship Id="rId56" Type="http://schemas.openxmlformats.org/officeDocument/2006/relationships/image" Target="../media/image76.png"/><Relationship Id="rId64" Type="http://schemas.openxmlformats.org/officeDocument/2006/relationships/image" Target="../media/image84.png"/><Relationship Id="rId69" Type="http://schemas.openxmlformats.org/officeDocument/2006/relationships/image" Target="../media/image89.png"/><Relationship Id="rId77" Type="http://schemas.openxmlformats.org/officeDocument/2006/relationships/image" Target="../media/image97.png"/><Relationship Id="rId8" Type="http://schemas.openxmlformats.org/officeDocument/2006/relationships/image" Target="../media/image28.png"/><Relationship Id="rId51" Type="http://schemas.openxmlformats.org/officeDocument/2006/relationships/image" Target="../media/image71.png"/><Relationship Id="rId72" Type="http://schemas.openxmlformats.org/officeDocument/2006/relationships/image" Target="../media/image92.png"/><Relationship Id="rId3" Type="http://schemas.openxmlformats.org/officeDocument/2006/relationships/image" Target="../media/image23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38" Type="http://schemas.openxmlformats.org/officeDocument/2006/relationships/image" Target="../media/image58.png"/><Relationship Id="rId46" Type="http://schemas.openxmlformats.org/officeDocument/2006/relationships/image" Target="../media/image66.png"/><Relationship Id="rId59" Type="http://schemas.openxmlformats.org/officeDocument/2006/relationships/image" Target="../media/image79.png"/><Relationship Id="rId67" Type="http://schemas.openxmlformats.org/officeDocument/2006/relationships/image" Target="../media/image87.png"/><Relationship Id="rId20" Type="http://schemas.openxmlformats.org/officeDocument/2006/relationships/image" Target="../media/image40.png"/><Relationship Id="rId41" Type="http://schemas.openxmlformats.org/officeDocument/2006/relationships/image" Target="../media/image61.png"/><Relationship Id="rId54" Type="http://schemas.openxmlformats.org/officeDocument/2006/relationships/image" Target="../media/image74.png"/><Relationship Id="rId62" Type="http://schemas.openxmlformats.org/officeDocument/2006/relationships/image" Target="../media/image82.png"/><Relationship Id="rId70" Type="http://schemas.openxmlformats.org/officeDocument/2006/relationships/image" Target="../media/image90.png"/><Relationship Id="rId75" Type="http://schemas.openxmlformats.org/officeDocument/2006/relationships/image" Target="../media/image9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6.png"/><Relationship Id="rId49" Type="http://schemas.openxmlformats.org/officeDocument/2006/relationships/image" Target="../media/image69.png"/><Relationship Id="rId57" Type="http://schemas.openxmlformats.org/officeDocument/2006/relationships/image" Target="../media/image77.png"/><Relationship Id="rId10" Type="http://schemas.openxmlformats.org/officeDocument/2006/relationships/image" Target="../media/image30.png"/><Relationship Id="rId31" Type="http://schemas.openxmlformats.org/officeDocument/2006/relationships/image" Target="../media/image51.png"/><Relationship Id="rId44" Type="http://schemas.openxmlformats.org/officeDocument/2006/relationships/image" Target="../media/image64.png"/><Relationship Id="rId52" Type="http://schemas.openxmlformats.org/officeDocument/2006/relationships/image" Target="../media/image72.png"/><Relationship Id="rId60" Type="http://schemas.openxmlformats.org/officeDocument/2006/relationships/image" Target="../media/image80.png"/><Relationship Id="rId65" Type="http://schemas.openxmlformats.org/officeDocument/2006/relationships/image" Target="../media/image85.png"/><Relationship Id="rId73" Type="http://schemas.openxmlformats.org/officeDocument/2006/relationships/image" Target="../media/image93.png"/><Relationship Id="rId78" Type="http://schemas.openxmlformats.org/officeDocument/2006/relationships/image" Target="../media/image98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9" Type="http://schemas.openxmlformats.org/officeDocument/2006/relationships/image" Target="../media/image59.png"/><Relationship Id="rId34" Type="http://schemas.openxmlformats.org/officeDocument/2006/relationships/image" Target="../media/image54.png"/><Relationship Id="rId50" Type="http://schemas.openxmlformats.org/officeDocument/2006/relationships/image" Target="../media/image70.png"/><Relationship Id="rId55" Type="http://schemas.openxmlformats.org/officeDocument/2006/relationships/image" Target="../media/image75.png"/><Relationship Id="rId76" Type="http://schemas.openxmlformats.org/officeDocument/2006/relationships/image" Target="../media/image96.png"/><Relationship Id="rId7" Type="http://schemas.openxmlformats.org/officeDocument/2006/relationships/image" Target="../media/image27.png"/><Relationship Id="rId71" Type="http://schemas.openxmlformats.org/officeDocument/2006/relationships/image" Target="../media/image91.png"/><Relationship Id="rId2" Type="http://schemas.openxmlformats.org/officeDocument/2006/relationships/image" Target="../media/image22.png"/><Relationship Id="rId29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image" Target="../media/image110.png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138" y="66547"/>
            <a:ext cx="9022715" cy="6698615"/>
            <a:chOff x="62138" y="66547"/>
            <a:chExt cx="9022715" cy="6698615"/>
          </a:xfrm>
        </p:grpSpPr>
        <p:sp>
          <p:nvSpPr>
            <p:cNvPr id="3" name="object 3"/>
            <p:cNvSpPr/>
            <p:nvPr/>
          </p:nvSpPr>
          <p:spPr>
            <a:xfrm>
              <a:off x="65313" y="69722"/>
              <a:ext cx="9013825" cy="6692265"/>
            </a:xfrm>
            <a:custGeom>
              <a:avLst/>
              <a:gdLst/>
              <a:ahLst/>
              <a:cxnLst/>
              <a:rect l="l" t="t" r="r" b="b"/>
              <a:pathLst>
                <a:path w="9013825" h="6692265">
                  <a:moveTo>
                    <a:pt x="0" y="329946"/>
                  </a:moveTo>
                  <a:lnTo>
                    <a:pt x="3576" y="281184"/>
                  </a:lnTo>
                  <a:lnTo>
                    <a:pt x="13965" y="234645"/>
                  </a:lnTo>
                  <a:lnTo>
                    <a:pt x="30657" y="190840"/>
                  </a:lnTo>
                  <a:lnTo>
                    <a:pt x="53141" y="150277"/>
                  </a:lnTo>
                  <a:lnTo>
                    <a:pt x="80907" y="113468"/>
                  </a:lnTo>
                  <a:lnTo>
                    <a:pt x="113445" y="80923"/>
                  </a:lnTo>
                  <a:lnTo>
                    <a:pt x="150245" y="53151"/>
                  </a:lnTo>
                  <a:lnTo>
                    <a:pt x="190796" y="30662"/>
                  </a:lnTo>
                  <a:lnTo>
                    <a:pt x="234589" y="13967"/>
                  </a:lnTo>
                  <a:lnTo>
                    <a:pt x="281114" y="3576"/>
                  </a:lnTo>
                  <a:lnTo>
                    <a:pt x="329859" y="0"/>
                  </a:lnTo>
                  <a:lnTo>
                    <a:pt x="8683462" y="0"/>
                  </a:lnTo>
                  <a:lnTo>
                    <a:pt x="8732224" y="3576"/>
                  </a:lnTo>
                  <a:lnTo>
                    <a:pt x="8778762" y="13967"/>
                  </a:lnTo>
                  <a:lnTo>
                    <a:pt x="8822568" y="30662"/>
                  </a:lnTo>
                  <a:lnTo>
                    <a:pt x="8863130" y="53151"/>
                  </a:lnTo>
                  <a:lnTo>
                    <a:pt x="8899939" y="80923"/>
                  </a:lnTo>
                  <a:lnTo>
                    <a:pt x="8932485" y="113468"/>
                  </a:lnTo>
                  <a:lnTo>
                    <a:pt x="8960257" y="150277"/>
                  </a:lnTo>
                  <a:lnTo>
                    <a:pt x="8982745" y="190840"/>
                  </a:lnTo>
                  <a:lnTo>
                    <a:pt x="8999440" y="234645"/>
                  </a:lnTo>
                  <a:lnTo>
                    <a:pt x="9009831" y="281184"/>
                  </a:lnTo>
                  <a:lnTo>
                    <a:pt x="9013408" y="329946"/>
                  </a:lnTo>
                  <a:lnTo>
                    <a:pt x="9013408" y="6362369"/>
                  </a:lnTo>
                  <a:lnTo>
                    <a:pt x="9009831" y="6411115"/>
                  </a:lnTo>
                  <a:lnTo>
                    <a:pt x="8999440" y="6457639"/>
                  </a:lnTo>
                  <a:lnTo>
                    <a:pt x="8982745" y="6501432"/>
                  </a:lnTo>
                  <a:lnTo>
                    <a:pt x="8960257" y="6541984"/>
                  </a:lnTo>
                  <a:lnTo>
                    <a:pt x="8932485" y="6578785"/>
                  </a:lnTo>
                  <a:lnTo>
                    <a:pt x="8899939" y="6611323"/>
                  </a:lnTo>
                  <a:lnTo>
                    <a:pt x="8863130" y="6639090"/>
                  </a:lnTo>
                  <a:lnTo>
                    <a:pt x="8822568" y="6661574"/>
                  </a:lnTo>
                  <a:lnTo>
                    <a:pt x="8778762" y="6678266"/>
                  </a:lnTo>
                  <a:lnTo>
                    <a:pt x="8732224" y="6688655"/>
                  </a:lnTo>
                  <a:lnTo>
                    <a:pt x="8683462" y="6692231"/>
                  </a:lnTo>
                  <a:lnTo>
                    <a:pt x="329859" y="6692231"/>
                  </a:lnTo>
                  <a:lnTo>
                    <a:pt x="281114" y="6688655"/>
                  </a:lnTo>
                  <a:lnTo>
                    <a:pt x="234589" y="6678266"/>
                  </a:lnTo>
                  <a:lnTo>
                    <a:pt x="190796" y="6661574"/>
                  </a:lnTo>
                  <a:lnTo>
                    <a:pt x="150245" y="6639090"/>
                  </a:lnTo>
                  <a:lnTo>
                    <a:pt x="113445" y="6611323"/>
                  </a:lnTo>
                  <a:lnTo>
                    <a:pt x="80907" y="6578785"/>
                  </a:lnTo>
                  <a:lnTo>
                    <a:pt x="53141" y="6541984"/>
                  </a:lnTo>
                  <a:lnTo>
                    <a:pt x="30657" y="6501432"/>
                  </a:lnTo>
                  <a:lnTo>
                    <a:pt x="13965" y="6457639"/>
                  </a:lnTo>
                  <a:lnTo>
                    <a:pt x="3576" y="6411115"/>
                  </a:lnTo>
                  <a:lnTo>
                    <a:pt x="0" y="6362369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931" y="1396688"/>
              <a:ext cx="9022080" cy="120650"/>
            </a:xfrm>
            <a:custGeom>
              <a:avLst/>
              <a:gdLst/>
              <a:ahLst/>
              <a:cxnLst/>
              <a:rect l="l" t="t" r="r" b="b"/>
              <a:pathLst>
                <a:path w="9022080" h="120650">
                  <a:moveTo>
                    <a:pt x="9021572" y="0"/>
                  </a:moveTo>
                  <a:lnTo>
                    <a:pt x="0" y="0"/>
                  </a:lnTo>
                  <a:lnTo>
                    <a:pt x="0" y="120580"/>
                  </a:lnTo>
                  <a:lnTo>
                    <a:pt x="9021572" y="120580"/>
                  </a:lnTo>
                  <a:lnTo>
                    <a:pt x="9021572" y="0"/>
                  </a:lnTo>
                  <a:close/>
                </a:path>
              </a:pathLst>
            </a:custGeom>
            <a:solidFill>
              <a:srgbClr val="ACCE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31" y="2976711"/>
              <a:ext cx="9022080" cy="111125"/>
            </a:xfrm>
            <a:custGeom>
              <a:avLst/>
              <a:gdLst/>
              <a:ahLst/>
              <a:cxnLst/>
              <a:rect l="l" t="t" r="r" b="b"/>
              <a:pathLst>
                <a:path w="9022080" h="111125">
                  <a:moveTo>
                    <a:pt x="9021572" y="0"/>
                  </a:moveTo>
                  <a:lnTo>
                    <a:pt x="0" y="0"/>
                  </a:lnTo>
                  <a:lnTo>
                    <a:pt x="0" y="110531"/>
                  </a:lnTo>
                  <a:lnTo>
                    <a:pt x="9021572" y="110531"/>
                  </a:lnTo>
                  <a:lnTo>
                    <a:pt x="9021572" y="0"/>
                  </a:lnTo>
                  <a:close/>
                </a:path>
              </a:pathLst>
            </a:custGeom>
            <a:solidFill>
              <a:srgbClr val="464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931" y="1517269"/>
            <a:ext cx="9022080" cy="1459865"/>
          </a:xfrm>
          <a:prstGeom prst="rect">
            <a:avLst/>
          </a:prstGeom>
          <a:solidFill>
            <a:srgbClr val="2CA1BE"/>
          </a:solidFill>
        </p:spPr>
        <p:txBody>
          <a:bodyPr vert="horz" wrap="square" lIns="0" tIns="3803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95"/>
              </a:spcBef>
            </a:pPr>
            <a:r>
              <a:rPr dirty="0">
                <a:solidFill>
                  <a:srgbClr val="FFFFFF"/>
                </a:solidFill>
              </a:rPr>
              <a:t>Cache</a:t>
            </a:r>
            <a:r>
              <a:rPr spc="-11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5975" y="688974"/>
            <a:ext cx="1363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58232"/>
            <a:ext cx="5610225" cy="14433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170" dirty="0">
                <a:solidFill>
                  <a:srgbClr val="FF0000"/>
                </a:solidFill>
                <a:latin typeface="Times New Roman"/>
                <a:cs typeface="Times New Roman"/>
              </a:rPr>
              <a:t>small</a:t>
            </a:r>
            <a:r>
              <a:rPr sz="26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amount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5" dirty="0">
                <a:solidFill>
                  <a:srgbClr val="FF0000"/>
                </a:solidFill>
                <a:latin typeface="Times New Roman"/>
                <a:cs typeface="Times New Roman"/>
              </a:rPr>
              <a:t>fast</a:t>
            </a:r>
            <a:r>
              <a:rPr sz="2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memory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130" dirty="0">
                <a:latin typeface="Times New Roman"/>
                <a:cs typeface="Times New Roman"/>
              </a:rPr>
              <a:t>sits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between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normal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main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memory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CPU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245" dirty="0">
                <a:latin typeface="Times New Roman"/>
                <a:cs typeface="Times New Roman"/>
              </a:rPr>
              <a:t>may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be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located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on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CPU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chip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module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378" y="3852514"/>
            <a:ext cx="7821442" cy="22955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95551" y="3632200"/>
            <a:ext cx="1676400" cy="8382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1136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95"/>
              </a:spcBef>
            </a:pP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word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transfer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9625" y="3403600"/>
            <a:ext cx="1676400" cy="8382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</a:ln>
        </p:spPr>
        <p:txBody>
          <a:bodyPr vert="horz" wrap="square" lIns="0" tIns="1136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895"/>
              </a:spcBef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block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transfer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4225" y="5029200"/>
            <a:ext cx="1447800" cy="685800"/>
          </a:xfrm>
          <a:prstGeom prst="rect">
            <a:avLst/>
          </a:prstGeom>
          <a:solidFill>
            <a:srgbClr val="FFFFCC"/>
          </a:solidFill>
          <a:ln w="9525">
            <a:solidFill>
              <a:srgbClr val="FF0000"/>
            </a:solidFill>
          </a:ln>
        </p:spPr>
        <p:txBody>
          <a:bodyPr vert="horz" wrap="square" lIns="0" tIns="1746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375"/>
              </a:spcBef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cache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8000" y="2641600"/>
            <a:ext cx="1905000" cy="1524000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92075" marR="644525">
              <a:lnSpc>
                <a:spcPct val="100000"/>
              </a:lnSpc>
              <a:spcBef>
                <a:spcPts val="1430"/>
              </a:spcBef>
            </a:pPr>
            <a:r>
              <a:rPr sz="1800" spc="-105" dirty="0">
                <a:latin typeface="Times New Roman"/>
                <a:cs typeface="Times New Roman"/>
              </a:rPr>
              <a:t>cache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views </a:t>
            </a:r>
            <a:r>
              <a:rPr sz="1800" spc="-114" dirty="0">
                <a:latin typeface="Times New Roman"/>
                <a:cs typeface="Times New Roman"/>
              </a:rPr>
              <a:t>main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85" dirty="0">
                <a:latin typeface="Times New Roman"/>
                <a:cs typeface="Times New Roman"/>
              </a:rPr>
              <a:t>memory </a:t>
            </a:r>
            <a:r>
              <a:rPr sz="1800" spc="-150" dirty="0">
                <a:latin typeface="Times New Roman"/>
                <a:cs typeface="Times New Roman"/>
              </a:rPr>
              <a:t>as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organized </a:t>
            </a:r>
            <a:r>
              <a:rPr sz="1800" spc="-90" dirty="0">
                <a:latin typeface="Times New Roman"/>
                <a:cs typeface="Times New Roman"/>
              </a:rPr>
              <a:t>in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“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blocks</a:t>
            </a:r>
            <a:r>
              <a:rPr sz="1800" spc="-20" dirty="0">
                <a:latin typeface="Times New Roman"/>
                <a:cs typeface="Times New Roman"/>
              </a:rPr>
              <a:t>”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24600" y="3626357"/>
            <a:ext cx="1409700" cy="1530350"/>
          </a:xfrm>
          <a:custGeom>
            <a:avLst/>
            <a:gdLst/>
            <a:ahLst/>
            <a:cxnLst/>
            <a:rect l="l" t="t" r="r" b="b"/>
            <a:pathLst>
              <a:path w="1409700" h="1530350">
                <a:moveTo>
                  <a:pt x="535940" y="11684"/>
                </a:moveTo>
                <a:lnTo>
                  <a:pt x="530860" y="0"/>
                </a:lnTo>
                <a:lnTo>
                  <a:pt x="67525" y="198589"/>
                </a:lnTo>
                <a:lnTo>
                  <a:pt x="54991" y="169418"/>
                </a:lnTo>
                <a:lnTo>
                  <a:pt x="0" y="234442"/>
                </a:lnTo>
                <a:lnTo>
                  <a:pt x="85090" y="239395"/>
                </a:lnTo>
                <a:lnTo>
                  <a:pt x="74701" y="215265"/>
                </a:lnTo>
                <a:lnTo>
                  <a:pt x="72542" y="210248"/>
                </a:lnTo>
                <a:lnTo>
                  <a:pt x="535940" y="11684"/>
                </a:lnTo>
                <a:close/>
              </a:path>
              <a:path w="1409700" h="1530350">
                <a:moveTo>
                  <a:pt x="1409700" y="1453642"/>
                </a:moveTo>
                <a:lnTo>
                  <a:pt x="1377950" y="1453642"/>
                </a:lnTo>
                <a:lnTo>
                  <a:pt x="1377950" y="539242"/>
                </a:lnTo>
                <a:lnTo>
                  <a:pt x="1365250" y="539242"/>
                </a:lnTo>
                <a:lnTo>
                  <a:pt x="1365250" y="1453642"/>
                </a:lnTo>
                <a:lnTo>
                  <a:pt x="1333500" y="1453642"/>
                </a:lnTo>
                <a:lnTo>
                  <a:pt x="1371600" y="1529842"/>
                </a:lnTo>
                <a:lnTo>
                  <a:pt x="1403350" y="1466342"/>
                </a:lnTo>
                <a:lnTo>
                  <a:pt x="1409700" y="14536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9575" y="457200"/>
            <a:ext cx="2057400" cy="914400"/>
          </a:xfrm>
          <a:prstGeom prst="rect">
            <a:avLst/>
          </a:prstGeom>
          <a:solidFill>
            <a:srgbClr val="CCFFFF"/>
          </a:solidFill>
          <a:ln w="9525">
            <a:solidFill>
              <a:srgbClr val="000000"/>
            </a:solidFill>
          </a:ln>
        </p:spPr>
        <p:txBody>
          <a:bodyPr vert="horz" wrap="square" lIns="0" tIns="1511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90"/>
              </a:spcBef>
            </a:pPr>
            <a:r>
              <a:rPr sz="1800" spc="-95" dirty="0">
                <a:latin typeface="Times New Roman"/>
                <a:cs typeface="Times New Roman"/>
              </a:rPr>
              <a:t>smaller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than</a:t>
            </a:r>
            <a:endParaRPr sz="1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1800" spc="-114" dirty="0">
                <a:latin typeface="Times New Roman"/>
                <a:cs typeface="Times New Roman"/>
              </a:rPr>
              <a:t>main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memory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09700" y="13716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1750" y="304800"/>
                </a:moveTo>
                <a:lnTo>
                  <a:pt x="0" y="304800"/>
                </a:lnTo>
                <a:lnTo>
                  <a:pt x="38100" y="381000"/>
                </a:lnTo>
                <a:lnTo>
                  <a:pt x="69850" y="317500"/>
                </a:lnTo>
                <a:lnTo>
                  <a:pt x="31750" y="317500"/>
                </a:lnTo>
                <a:lnTo>
                  <a:pt x="31750" y="304800"/>
                </a:lnTo>
                <a:close/>
              </a:path>
              <a:path w="76200" h="381000">
                <a:moveTo>
                  <a:pt x="4445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44450" y="317500"/>
                </a:lnTo>
                <a:lnTo>
                  <a:pt x="44450" y="0"/>
                </a:lnTo>
                <a:close/>
              </a:path>
              <a:path w="76200" h="381000">
                <a:moveTo>
                  <a:pt x="76200" y="304800"/>
                </a:moveTo>
                <a:lnTo>
                  <a:pt x="44450" y="304800"/>
                </a:lnTo>
                <a:lnTo>
                  <a:pt x="44450" y="317500"/>
                </a:lnTo>
                <a:lnTo>
                  <a:pt x="69850" y="317500"/>
                </a:lnTo>
                <a:lnTo>
                  <a:pt x="76200" y="304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363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2379091"/>
            <a:ext cx="7536815" cy="2556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80645" indent="-27305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  <a:tab pos="671830" algn="l"/>
                <a:tab pos="899160" algn="l"/>
              </a:tabLst>
            </a:pP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10" dirty="0">
                <a:latin typeface="Times New Roman"/>
                <a:cs typeface="Times New Roman"/>
              </a:rPr>
              <a:t>purpose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cache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memory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b="1" i="1" spc="-80" dirty="0">
                <a:solidFill>
                  <a:srgbClr val="006FC0"/>
                </a:solidFill>
                <a:latin typeface="Times New Roman"/>
                <a:cs typeface="Times New Roman"/>
              </a:rPr>
              <a:t>speed</a:t>
            </a:r>
            <a:r>
              <a:rPr sz="2600" b="1" i="1" spc="-75" dirty="0">
                <a:solidFill>
                  <a:srgbClr val="006FC0"/>
                </a:solidFill>
                <a:latin typeface="Times New Roman"/>
                <a:cs typeface="Times New Roman"/>
              </a:rPr>
              <a:t> up</a:t>
            </a:r>
            <a:r>
              <a:rPr sz="2600" b="1" i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data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accesses 	</a:t>
            </a:r>
            <a:r>
              <a:rPr sz="2600" spc="-100" dirty="0">
                <a:latin typeface="Times New Roman"/>
                <a:cs typeface="Times New Roman"/>
              </a:rPr>
              <a:t>for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processor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by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storing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information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faster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memory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made 	</a:t>
            </a:r>
            <a:r>
              <a:rPr sz="2600" spc="-25" dirty="0">
                <a:latin typeface="Times New Roman"/>
                <a:cs typeface="Times New Roman"/>
              </a:rPr>
              <a:t>of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335" dirty="0">
                <a:latin typeface="Times New Roman"/>
                <a:cs typeface="Times New Roman"/>
              </a:rPr>
              <a:t>SRAM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  <a:buClr>
                <a:srgbClr val="2CA1BE"/>
              </a:buClr>
              <a:buFont typeface="Segoe UI Symbol"/>
              <a:buChar char="⚫"/>
            </a:pPr>
            <a:endParaRPr sz="26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4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40" dirty="0">
                <a:latin typeface="Times New Roman"/>
                <a:cs typeface="Times New Roman"/>
              </a:rPr>
              <a:t>data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stored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in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cache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data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that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processor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is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b="1" i="1" spc="-55" dirty="0">
                <a:solidFill>
                  <a:srgbClr val="006FC0"/>
                </a:solidFill>
                <a:latin typeface="Times New Roman"/>
                <a:cs typeface="Times New Roman"/>
              </a:rPr>
              <a:t>likely</a:t>
            </a:r>
            <a:r>
              <a:rPr sz="2600" b="1" i="1" spc="-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to 	</a:t>
            </a:r>
            <a:r>
              <a:rPr sz="2600" b="1" i="1" spc="-125" dirty="0">
                <a:solidFill>
                  <a:srgbClr val="006FC0"/>
                </a:solidFill>
                <a:latin typeface="Times New Roman"/>
                <a:cs typeface="Times New Roman"/>
              </a:rPr>
              <a:t>use</a:t>
            </a:r>
            <a:r>
              <a:rPr sz="2600" b="1" i="1" spc="-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600" b="1" i="1" spc="-11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i="1" spc="-20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600" b="1" i="1" spc="-1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i="1" spc="-85" dirty="0">
                <a:solidFill>
                  <a:srgbClr val="006FC0"/>
                </a:solidFill>
                <a:latin typeface="Times New Roman"/>
                <a:cs typeface="Times New Roman"/>
              </a:rPr>
              <a:t>very</a:t>
            </a:r>
            <a:r>
              <a:rPr sz="2600" b="1" i="1" spc="-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i="1" spc="-60" dirty="0">
                <a:solidFill>
                  <a:srgbClr val="006FC0"/>
                </a:solidFill>
                <a:latin typeface="Times New Roman"/>
                <a:cs typeface="Times New Roman"/>
              </a:rPr>
              <a:t>near</a:t>
            </a:r>
            <a:r>
              <a:rPr sz="2600" b="1" i="1" spc="-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future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Locality</a:t>
            </a:r>
            <a:r>
              <a:rPr spc="-135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spc="-45" dirty="0"/>
              <a:t>Reference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110867"/>
            <a:ext cx="7463790" cy="38430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750" marR="5080" indent="-273685">
              <a:lnSpc>
                <a:spcPts val="2400"/>
              </a:lnSpc>
              <a:spcBef>
                <a:spcPts val="675"/>
              </a:spcBef>
              <a:buClr>
                <a:srgbClr val="2CA1BE"/>
              </a:buClr>
              <a:buSzPct val="84000"/>
              <a:buFont typeface="Segoe UI Symbol"/>
              <a:buChar char="⚫"/>
              <a:tabLst>
                <a:tab pos="287020" algn="l"/>
              </a:tabLst>
            </a:pPr>
            <a:r>
              <a:rPr sz="2500" dirty="0">
                <a:latin typeface="Times New Roman"/>
                <a:cs typeface="Times New Roman"/>
              </a:rPr>
              <a:t>An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i="1" dirty="0">
                <a:solidFill>
                  <a:srgbClr val="006FC0"/>
                </a:solidFill>
                <a:latin typeface="Times New Roman"/>
                <a:cs typeface="Times New Roman"/>
              </a:rPr>
              <a:t>implication</a:t>
            </a:r>
            <a:r>
              <a:rPr sz="2500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i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2500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i="1" dirty="0">
                <a:solidFill>
                  <a:srgbClr val="006FC0"/>
                </a:solidFill>
                <a:latin typeface="Times New Roman"/>
                <a:cs typeface="Times New Roman"/>
              </a:rPr>
              <a:t>locality</a:t>
            </a:r>
            <a:r>
              <a:rPr sz="2500" i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we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can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predict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with 	</a:t>
            </a:r>
            <a:r>
              <a:rPr sz="2500" dirty="0">
                <a:latin typeface="Times New Roman"/>
                <a:cs typeface="Times New Roman"/>
              </a:rPr>
              <a:t>reasonable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accuracy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what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instructions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and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data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a 	</a:t>
            </a:r>
            <a:r>
              <a:rPr sz="2500" dirty="0">
                <a:latin typeface="Times New Roman"/>
                <a:cs typeface="Times New Roman"/>
              </a:rPr>
              <a:t>program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will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use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near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future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based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its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accesses 	</a:t>
            </a:r>
            <a:r>
              <a:rPr sz="2500" dirty="0">
                <a:latin typeface="Times New Roman"/>
                <a:cs typeface="Times New Roman"/>
              </a:rPr>
              <a:t>in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recent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past.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Clr>
                <a:srgbClr val="2CA1BE"/>
              </a:buClr>
              <a:buFont typeface="Segoe UI Symbol"/>
              <a:buChar char="⚫"/>
            </a:pPr>
            <a:endParaRPr sz="2500">
              <a:latin typeface="Times New Roman"/>
              <a:cs typeface="Times New Roman"/>
            </a:endParaRPr>
          </a:p>
          <a:p>
            <a:pPr marL="285750" marR="527685" indent="-273685">
              <a:lnSpc>
                <a:spcPct val="70000"/>
              </a:lnSpc>
              <a:buClr>
                <a:srgbClr val="2CA1BE"/>
              </a:buClr>
              <a:buSzPct val="84000"/>
              <a:buFont typeface="Segoe UI Symbol"/>
              <a:buChar char="⚫"/>
              <a:tabLst>
                <a:tab pos="287020" algn="l"/>
              </a:tabLst>
            </a:pPr>
            <a:r>
              <a:rPr sz="2500" b="1" i="1" spc="-25" dirty="0">
                <a:solidFill>
                  <a:srgbClr val="006FC0"/>
                </a:solidFill>
                <a:latin typeface="Times New Roman"/>
                <a:cs typeface="Times New Roman"/>
              </a:rPr>
              <a:t>Temporal</a:t>
            </a:r>
            <a:r>
              <a:rPr sz="2500" b="1" i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b="1" i="1" dirty="0">
                <a:solidFill>
                  <a:srgbClr val="006FC0"/>
                </a:solidFill>
                <a:latin typeface="Times New Roman"/>
                <a:cs typeface="Times New Roman"/>
              </a:rPr>
              <a:t>locality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recently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executed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instruction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is 	</a:t>
            </a:r>
            <a:r>
              <a:rPr sz="2500" dirty="0">
                <a:latin typeface="Times New Roman"/>
                <a:cs typeface="Times New Roman"/>
              </a:rPr>
              <a:t>likely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executed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again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soon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30"/>
              </a:spcBef>
              <a:buClr>
                <a:srgbClr val="2CA1BE"/>
              </a:buClr>
              <a:buFont typeface="Segoe UI Symbol"/>
              <a:buChar char="⚫"/>
            </a:pPr>
            <a:endParaRPr sz="2500">
              <a:latin typeface="Times New Roman"/>
              <a:cs typeface="Times New Roman"/>
            </a:endParaRPr>
          </a:p>
          <a:p>
            <a:pPr marL="286385" indent="-273685">
              <a:lnSpc>
                <a:spcPts val="2550"/>
              </a:lnSpc>
              <a:buClr>
                <a:srgbClr val="2CA1BE"/>
              </a:buClr>
              <a:buSzPct val="84000"/>
              <a:buFont typeface="Segoe UI Symbol"/>
              <a:buChar char="⚫"/>
              <a:tabLst>
                <a:tab pos="286385" algn="l"/>
              </a:tabLst>
            </a:pPr>
            <a:r>
              <a:rPr sz="25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Spatial</a:t>
            </a:r>
            <a:r>
              <a:rPr sz="2500" b="1" i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b="1" i="1" dirty="0">
                <a:solidFill>
                  <a:srgbClr val="006FC0"/>
                </a:solidFill>
                <a:latin typeface="Times New Roman"/>
                <a:cs typeface="Times New Roman"/>
              </a:rPr>
              <a:t>locality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instructions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with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addresses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close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50" dirty="0">
                <a:latin typeface="Times New Roman"/>
                <a:cs typeface="Times New Roman"/>
              </a:rPr>
              <a:t> a</a:t>
            </a:r>
            <a:endParaRPr sz="2500">
              <a:latin typeface="Times New Roman"/>
              <a:cs typeface="Times New Roman"/>
            </a:endParaRPr>
          </a:p>
          <a:p>
            <a:pPr marL="287020" marR="295910">
              <a:lnSpc>
                <a:spcPct val="70000"/>
              </a:lnSpc>
              <a:spcBef>
                <a:spcPts val="450"/>
              </a:spcBef>
            </a:pPr>
            <a:r>
              <a:rPr sz="2500" dirty="0">
                <a:latin typeface="Times New Roman"/>
                <a:cs typeface="Times New Roman"/>
              </a:rPr>
              <a:t>recently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executed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instruction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are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likely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executed soon.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63849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Parameters</a:t>
            </a:r>
            <a:r>
              <a:rPr spc="-120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dirty="0"/>
              <a:t>Cache</a:t>
            </a:r>
            <a:r>
              <a:rPr spc="-135" dirty="0"/>
              <a:t> </a:t>
            </a:r>
            <a:r>
              <a:rPr spc="-5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74394"/>
            <a:ext cx="7487284" cy="4502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73050">
              <a:lnSpc>
                <a:spcPts val="3075"/>
              </a:lnSpc>
              <a:spcBef>
                <a:spcPts val="10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150" dirty="0">
                <a:solidFill>
                  <a:srgbClr val="006FC0"/>
                </a:solidFill>
                <a:latin typeface="Times New Roman"/>
                <a:cs typeface="Times New Roman"/>
              </a:rPr>
              <a:t>Cache</a:t>
            </a:r>
            <a:r>
              <a:rPr sz="26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006FC0"/>
                </a:solidFill>
                <a:latin typeface="Times New Roman"/>
                <a:cs typeface="Times New Roman"/>
              </a:rPr>
              <a:t>Hit</a:t>
            </a:r>
            <a:endParaRPr sz="2600">
              <a:latin typeface="Times New Roman"/>
              <a:cs typeface="Times New Roman"/>
            </a:endParaRPr>
          </a:p>
          <a:p>
            <a:pPr marL="561340" lvl="1" indent="-229235">
              <a:lnSpc>
                <a:spcPts val="2565"/>
              </a:lnSpc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29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referenced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item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found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cache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85" dirty="0">
                <a:latin typeface="Times New Roman"/>
                <a:cs typeface="Times New Roman"/>
              </a:rPr>
              <a:t>by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processor</a:t>
            </a:r>
            <a:endParaRPr sz="2200">
              <a:latin typeface="Times New Roman"/>
              <a:cs typeface="Times New Roman"/>
            </a:endParaRPr>
          </a:p>
          <a:p>
            <a:pPr marL="285750" indent="-273050">
              <a:lnSpc>
                <a:spcPts val="3040"/>
              </a:lnSpc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150" dirty="0">
                <a:solidFill>
                  <a:srgbClr val="006FC0"/>
                </a:solidFill>
                <a:latin typeface="Times New Roman"/>
                <a:cs typeface="Times New Roman"/>
              </a:rPr>
              <a:t>Cache</a:t>
            </a:r>
            <a:r>
              <a:rPr sz="26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006FC0"/>
                </a:solidFill>
                <a:latin typeface="Times New Roman"/>
                <a:cs typeface="Times New Roman"/>
              </a:rPr>
              <a:t>Miss</a:t>
            </a:r>
            <a:endParaRPr sz="2600">
              <a:latin typeface="Times New Roman"/>
              <a:cs typeface="Times New Roman"/>
            </a:endParaRPr>
          </a:p>
          <a:p>
            <a:pPr marL="561340" lvl="1" indent="-229235">
              <a:lnSpc>
                <a:spcPts val="2570"/>
              </a:lnSpc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29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referenced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item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not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present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cache</a:t>
            </a:r>
            <a:endParaRPr sz="2200">
              <a:latin typeface="Times New Roman"/>
              <a:cs typeface="Times New Roman"/>
            </a:endParaRPr>
          </a:p>
          <a:p>
            <a:pPr marL="285750" indent="-273050">
              <a:lnSpc>
                <a:spcPts val="3045"/>
              </a:lnSpc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70" dirty="0">
                <a:solidFill>
                  <a:srgbClr val="006FC0"/>
                </a:solidFill>
                <a:latin typeface="Times New Roman"/>
                <a:cs typeface="Times New Roman"/>
              </a:rPr>
              <a:t>Hit</a:t>
            </a:r>
            <a:r>
              <a:rPr sz="2600" spc="-9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imes New Roman"/>
                <a:cs typeface="Times New Roman"/>
              </a:rPr>
              <a:t>ratio</a:t>
            </a:r>
            <a:endParaRPr sz="2600">
              <a:latin typeface="Times New Roman"/>
              <a:cs typeface="Times New Roman"/>
            </a:endParaRPr>
          </a:p>
          <a:p>
            <a:pPr marL="561340" lvl="1" indent="-229235">
              <a:lnSpc>
                <a:spcPts val="2325"/>
              </a:lnSpc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120" dirty="0">
                <a:latin typeface="Times New Roman"/>
                <a:cs typeface="Times New Roman"/>
              </a:rPr>
              <a:t>Ratio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number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hits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total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number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references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220" dirty="0">
                <a:latin typeface="Times New Roman"/>
                <a:cs typeface="Times New Roman"/>
              </a:rPr>
              <a:t>=&gt;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number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L="560705">
              <a:lnSpc>
                <a:spcPts val="2350"/>
              </a:lnSpc>
            </a:pPr>
            <a:r>
              <a:rPr sz="2200" spc="-45" dirty="0">
                <a:latin typeface="Times New Roman"/>
                <a:cs typeface="Times New Roman"/>
              </a:rPr>
              <a:t>hits/(number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hits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220" dirty="0">
                <a:latin typeface="Times New Roman"/>
                <a:cs typeface="Times New Roman"/>
              </a:rPr>
              <a:t>+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number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Miss)</a:t>
            </a:r>
            <a:endParaRPr sz="2200">
              <a:latin typeface="Times New Roman"/>
              <a:cs typeface="Times New Roman"/>
            </a:endParaRPr>
          </a:p>
          <a:p>
            <a:pPr marL="285750" indent="-273050">
              <a:lnSpc>
                <a:spcPts val="3050"/>
              </a:lnSpc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225" dirty="0">
                <a:solidFill>
                  <a:srgbClr val="006FC0"/>
                </a:solidFill>
                <a:latin typeface="Times New Roman"/>
                <a:cs typeface="Times New Roman"/>
              </a:rPr>
              <a:t>Miss</a:t>
            </a:r>
            <a:r>
              <a:rPr sz="26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006FC0"/>
                </a:solidFill>
                <a:latin typeface="Times New Roman"/>
                <a:cs typeface="Times New Roman"/>
              </a:rPr>
              <a:t>penalty</a:t>
            </a:r>
            <a:endParaRPr sz="2600">
              <a:latin typeface="Times New Roman"/>
              <a:cs typeface="Times New Roman"/>
            </a:endParaRPr>
          </a:p>
          <a:p>
            <a:pPr marL="561340" lvl="1" indent="-229235">
              <a:lnSpc>
                <a:spcPts val="2595"/>
              </a:lnSpc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120" dirty="0">
                <a:latin typeface="Times New Roman"/>
                <a:cs typeface="Times New Roman"/>
              </a:rPr>
              <a:t>Additional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cycles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required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serve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miss</a:t>
            </a:r>
            <a:endParaRPr sz="2200">
              <a:latin typeface="Times New Roman"/>
              <a:cs typeface="Times New Roman"/>
            </a:endParaRPr>
          </a:p>
          <a:p>
            <a:pPr marL="561340" lvl="1" indent="-229235">
              <a:lnSpc>
                <a:spcPts val="2510"/>
              </a:lnSpc>
              <a:spcBef>
                <a:spcPts val="70"/>
              </a:spcBef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125" dirty="0">
                <a:latin typeface="Times New Roman"/>
                <a:cs typeface="Times New Roman"/>
              </a:rPr>
              <a:t>Time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required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for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cache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60" dirty="0">
                <a:latin typeface="Times New Roman"/>
                <a:cs typeface="Times New Roman"/>
              </a:rPr>
              <a:t>miss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depends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both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latency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560705">
              <a:lnSpc>
                <a:spcPts val="2510"/>
              </a:lnSpc>
            </a:pPr>
            <a:r>
              <a:rPr sz="2200" spc="-10" dirty="0">
                <a:latin typeface="Times New Roman"/>
                <a:cs typeface="Times New Roman"/>
              </a:rPr>
              <a:t>bandwidth</a:t>
            </a:r>
            <a:endParaRPr sz="2200">
              <a:latin typeface="Times New Roman"/>
              <a:cs typeface="Times New Roman"/>
            </a:endParaRPr>
          </a:p>
          <a:p>
            <a:pPr marL="561340" lvl="1" indent="-229235">
              <a:lnSpc>
                <a:spcPct val="100000"/>
              </a:lnSpc>
              <a:spcBef>
                <a:spcPts val="130"/>
              </a:spcBef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140" dirty="0">
                <a:latin typeface="Times New Roman"/>
                <a:cs typeface="Times New Roman"/>
              </a:rPr>
              <a:t>Latency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time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retrieve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first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word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block</a:t>
            </a:r>
            <a:endParaRPr sz="2200">
              <a:latin typeface="Times New Roman"/>
              <a:cs typeface="Times New Roman"/>
            </a:endParaRPr>
          </a:p>
          <a:p>
            <a:pPr marL="561340" lvl="1" indent="-229235">
              <a:lnSpc>
                <a:spcPct val="100000"/>
              </a:lnSpc>
              <a:spcBef>
                <a:spcPts val="135"/>
              </a:spcBef>
              <a:buClr>
                <a:srgbClr val="DA1F28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spc="-145" dirty="0">
                <a:latin typeface="Times New Roman"/>
                <a:cs typeface="Times New Roman"/>
              </a:rPr>
              <a:t>Bandwidth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–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time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retrieve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60" dirty="0">
                <a:latin typeface="Times New Roman"/>
                <a:cs typeface="Times New Roman"/>
              </a:rPr>
              <a:t>rest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this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block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32" y="66547"/>
            <a:ext cx="9020175" cy="6751955"/>
            <a:chOff x="60832" y="66547"/>
            <a:chExt cx="9020175" cy="6751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6626" y="135635"/>
              <a:ext cx="1610910" cy="6446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245" y="1050036"/>
              <a:ext cx="3134879" cy="7223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7" y="2269236"/>
              <a:ext cx="3717036" cy="14036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5380" y="4021820"/>
              <a:ext cx="2144267" cy="8748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64240" y="2497828"/>
              <a:ext cx="3439688" cy="7987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64252" y="3640836"/>
              <a:ext cx="3515867" cy="9509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70364" y="5164836"/>
              <a:ext cx="2293672" cy="8732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16851" y="5241036"/>
              <a:ext cx="2148839" cy="8732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92935" y="6150862"/>
              <a:ext cx="1633727" cy="6675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78152" y="672084"/>
              <a:ext cx="463295" cy="6507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14550" y="685799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76200" y="190500"/>
                  </a:moveTo>
                  <a:lnTo>
                    <a:pt x="0" y="190500"/>
                  </a:lnTo>
                  <a:lnTo>
                    <a:pt x="95250" y="381000"/>
                  </a:lnTo>
                  <a:lnTo>
                    <a:pt x="180975" y="209550"/>
                  </a:lnTo>
                  <a:lnTo>
                    <a:pt x="76200" y="209550"/>
                  </a:lnTo>
                  <a:lnTo>
                    <a:pt x="76200" y="190500"/>
                  </a:lnTo>
                  <a:close/>
                </a:path>
                <a:path w="190500" h="381000">
                  <a:moveTo>
                    <a:pt x="114300" y="0"/>
                  </a:moveTo>
                  <a:lnTo>
                    <a:pt x="76200" y="0"/>
                  </a:lnTo>
                  <a:lnTo>
                    <a:pt x="76200" y="209550"/>
                  </a:lnTo>
                  <a:lnTo>
                    <a:pt x="114300" y="209550"/>
                  </a:lnTo>
                  <a:lnTo>
                    <a:pt x="114300" y="0"/>
                  </a:lnTo>
                  <a:close/>
                </a:path>
                <a:path w="190500" h="381000">
                  <a:moveTo>
                    <a:pt x="190500" y="190500"/>
                  </a:moveTo>
                  <a:lnTo>
                    <a:pt x="114300" y="190500"/>
                  </a:lnTo>
                  <a:lnTo>
                    <a:pt x="114300" y="209550"/>
                  </a:lnTo>
                  <a:lnTo>
                    <a:pt x="180975" y="20955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78152" y="1662684"/>
              <a:ext cx="463295" cy="8793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14550" y="1676400"/>
              <a:ext cx="190500" cy="609600"/>
            </a:xfrm>
            <a:custGeom>
              <a:avLst/>
              <a:gdLst/>
              <a:ahLst/>
              <a:cxnLst/>
              <a:rect l="l" t="t" r="r" b="b"/>
              <a:pathLst>
                <a:path w="190500" h="609600">
                  <a:moveTo>
                    <a:pt x="76200" y="419100"/>
                  </a:moveTo>
                  <a:lnTo>
                    <a:pt x="0" y="419100"/>
                  </a:lnTo>
                  <a:lnTo>
                    <a:pt x="95250" y="609600"/>
                  </a:lnTo>
                  <a:lnTo>
                    <a:pt x="180975" y="438150"/>
                  </a:lnTo>
                  <a:lnTo>
                    <a:pt x="76200" y="438150"/>
                  </a:lnTo>
                  <a:lnTo>
                    <a:pt x="76200" y="419100"/>
                  </a:lnTo>
                  <a:close/>
                </a:path>
                <a:path w="190500" h="609600">
                  <a:moveTo>
                    <a:pt x="114300" y="0"/>
                  </a:moveTo>
                  <a:lnTo>
                    <a:pt x="76200" y="0"/>
                  </a:lnTo>
                  <a:lnTo>
                    <a:pt x="76200" y="438150"/>
                  </a:lnTo>
                  <a:lnTo>
                    <a:pt x="114300" y="438150"/>
                  </a:lnTo>
                  <a:lnTo>
                    <a:pt x="114300" y="0"/>
                  </a:lnTo>
                  <a:close/>
                </a:path>
                <a:path w="190500" h="609600">
                  <a:moveTo>
                    <a:pt x="190500" y="419100"/>
                  </a:moveTo>
                  <a:lnTo>
                    <a:pt x="114300" y="419100"/>
                  </a:lnTo>
                  <a:lnTo>
                    <a:pt x="114300" y="438150"/>
                  </a:lnTo>
                  <a:lnTo>
                    <a:pt x="180975" y="438150"/>
                  </a:lnTo>
                  <a:lnTo>
                    <a:pt x="190500" y="4191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78152" y="3567683"/>
              <a:ext cx="463295" cy="72694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14550" y="3581400"/>
              <a:ext cx="190500" cy="457200"/>
            </a:xfrm>
            <a:custGeom>
              <a:avLst/>
              <a:gdLst/>
              <a:ahLst/>
              <a:cxnLst/>
              <a:rect l="l" t="t" r="r" b="b"/>
              <a:pathLst>
                <a:path w="190500" h="457200">
                  <a:moveTo>
                    <a:pt x="76200" y="266700"/>
                  </a:moveTo>
                  <a:lnTo>
                    <a:pt x="0" y="266700"/>
                  </a:lnTo>
                  <a:lnTo>
                    <a:pt x="95250" y="457200"/>
                  </a:lnTo>
                  <a:lnTo>
                    <a:pt x="180975" y="285750"/>
                  </a:lnTo>
                  <a:lnTo>
                    <a:pt x="76200" y="285750"/>
                  </a:lnTo>
                  <a:lnTo>
                    <a:pt x="76200" y="266700"/>
                  </a:lnTo>
                  <a:close/>
                </a:path>
                <a:path w="190500" h="457200">
                  <a:moveTo>
                    <a:pt x="114300" y="0"/>
                  </a:moveTo>
                  <a:lnTo>
                    <a:pt x="76200" y="0"/>
                  </a:lnTo>
                  <a:lnTo>
                    <a:pt x="76200" y="285750"/>
                  </a:lnTo>
                  <a:lnTo>
                    <a:pt x="114300" y="285750"/>
                  </a:lnTo>
                  <a:lnTo>
                    <a:pt x="114300" y="0"/>
                  </a:lnTo>
                  <a:close/>
                </a:path>
                <a:path w="190500" h="457200">
                  <a:moveTo>
                    <a:pt x="190500" y="266700"/>
                  </a:moveTo>
                  <a:lnTo>
                    <a:pt x="114300" y="266700"/>
                  </a:lnTo>
                  <a:lnTo>
                    <a:pt x="114300" y="285750"/>
                  </a:lnTo>
                  <a:lnTo>
                    <a:pt x="180975" y="285750"/>
                  </a:lnTo>
                  <a:lnTo>
                    <a:pt x="190500" y="2667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78152" y="4786883"/>
              <a:ext cx="463295" cy="171754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14550" y="4800600"/>
              <a:ext cx="190500" cy="1447800"/>
            </a:xfrm>
            <a:custGeom>
              <a:avLst/>
              <a:gdLst/>
              <a:ahLst/>
              <a:cxnLst/>
              <a:rect l="l" t="t" r="r" b="b"/>
              <a:pathLst>
                <a:path w="190500" h="1447800">
                  <a:moveTo>
                    <a:pt x="76200" y="1257300"/>
                  </a:moveTo>
                  <a:lnTo>
                    <a:pt x="0" y="1257300"/>
                  </a:lnTo>
                  <a:lnTo>
                    <a:pt x="95250" y="1447800"/>
                  </a:lnTo>
                  <a:lnTo>
                    <a:pt x="180975" y="1276350"/>
                  </a:lnTo>
                  <a:lnTo>
                    <a:pt x="76200" y="1276350"/>
                  </a:lnTo>
                  <a:lnTo>
                    <a:pt x="76200" y="1257300"/>
                  </a:lnTo>
                  <a:close/>
                </a:path>
                <a:path w="190500" h="1447800">
                  <a:moveTo>
                    <a:pt x="114300" y="0"/>
                  </a:moveTo>
                  <a:lnTo>
                    <a:pt x="76200" y="0"/>
                  </a:lnTo>
                  <a:lnTo>
                    <a:pt x="76200" y="1276350"/>
                  </a:lnTo>
                  <a:lnTo>
                    <a:pt x="114300" y="1276350"/>
                  </a:lnTo>
                  <a:lnTo>
                    <a:pt x="114300" y="0"/>
                  </a:lnTo>
                  <a:close/>
                </a:path>
                <a:path w="190500" h="1447800">
                  <a:moveTo>
                    <a:pt x="190500" y="1257300"/>
                  </a:moveTo>
                  <a:lnTo>
                    <a:pt x="114300" y="1257300"/>
                  </a:lnTo>
                  <a:lnTo>
                    <a:pt x="114300" y="1276350"/>
                  </a:lnTo>
                  <a:lnTo>
                    <a:pt x="180975" y="1276350"/>
                  </a:lnTo>
                  <a:lnTo>
                    <a:pt x="190500" y="12573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98975" y="2708147"/>
              <a:ext cx="1338072" cy="46329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038599" y="2819399"/>
              <a:ext cx="1066800" cy="190500"/>
            </a:xfrm>
            <a:custGeom>
              <a:avLst/>
              <a:gdLst/>
              <a:ahLst/>
              <a:cxnLst/>
              <a:rect l="l" t="t" r="r" b="b"/>
              <a:pathLst>
                <a:path w="1066800" h="190500">
                  <a:moveTo>
                    <a:pt x="876300" y="0"/>
                  </a:moveTo>
                  <a:lnTo>
                    <a:pt x="876300" y="190500"/>
                  </a:lnTo>
                  <a:lnTo>
                    <a:pt x="1028700" y="114300"/>
                  </a:lnTo>
                  <a:lnTo>
                    <a:pt x="895350" y="114300"/>
                  </a:lnTo>
                  <a:lnTo>
                    <a:pt x="895350" y="76200"/>
                  </a:lnTo>
                  <a:lnTo>
                    <a:pt x="1028700" y="76200"/>
                  </a:lnTo>
                  <a:lnTo>
                    <a:pt x="876300" y="0"/>
                  </a:lnTo>
                  <a:close/>
                </a:path>
                <a:path w="1066800" h="190500">
                  <a:moveTo>
                    <a:pt x="876300" y="76200"/>
                  </a:moveTo>
                  <a:lnTo>
                    <a:pt x="0" y="76200"/>
                  </a:lnTo>
                  <a:lnTo>
                    <a:pt x="0" y="114300"/>
                  </a:lnTo>
                  <a:lnTo>
                    <a:pt x="876300" y="114300"/>
                  </a:lnTo>
                  <a:lnTo>
                    <a:pt x="876300" y="76200"/>
                  </a:lnTo>
                  <a:close/>
                </a:path>
                <a:path w="1066800" h="190500">
                  <a:moveTo>
                    <a:pt x="1028700" y="76200"/>
                  </a:moveTo>
                  <a:lnTo>
                    <a:pt x="895350" y="76200"/>
                  </a:lnTo>
                  <a:lnTo>
                    <a:pt x="895350" y="114300"/>
                  </a:lnTo>
                  <a:lnTo>
                    <a:pt x="1028700" y="114300"/>
                  </a:lnTo>
                  <a:lnTo>
                    <a:pt x="1066800" y="95250"/>
                  </a:lnTo>
                  <a:lnTo>
                    <a:pt x="1028700" y="762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21552" y="3186683"/>
              <a:ext cx="463296" cy="72694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457949" y="3200399"/>
              <a:ext cx="190500" cy="457200"/>
            </a:xfrm>
            <a:custGeom>
              <a:avLst/>
              <a:gdLst/>
              <a:ahLst/>
              <a:cxnLst/>
              <a:rect l="l" t="t" r="r" b="b"/>
              <a:pathLst>
                <a:path w="190500" h="457200">
                  <a:moveTo>
                    <a:pt x="76200" y="266700"/>
                  </a:moveTo>
                  <a:lnTo>
                    <a:pt x="0" y="266700"/>
                  </a:lnTo>
                  <a:lnTo>
                    <a:pt x="95250" y="457200"/>
                  </a:lnTo>
                  <a:lnTo>
                    <a:pt x="180975" y="285750"/>
                  </a:lnTo>
                  <a:lnTo>
                    <a:pt x="76200" y="285750"/>
                  </a:lnTo>
                  <a:lnTo>
                    <a:pt x="76200" y="266700"/>
                  </a:lnTo>
                  <a:close/>
                </a:path>
                <a:path w="190500" h="457200">
                  <a:moveTo>
                    <a:pt x="114300" y="0"/>
                  </a:moveTo>
                  <a:lnTo>
                    <a:pt x="76200" y="0"/>
                  </a:lnTo>
                  <a:lnTo>
                    <a:pt x="76200" y="285750"/>
                  </a:lnTo>
                  <a:lnTo>
                    <a:pt x="114300" y="285750"/>
                  </a:lnTo>
                  <a:lnTo>
                    <a:pt x="114300" y="0"/>
                  </a:lnTo>
                  <a:close/>
                </a:path>
                <a:path w="190500" h="457200">
                  <a:moveTo>
                    <a:pt x="190500" y="266700"/>
                  </a:moveTo>
                  <a:lnTo>
                    <a:pt x="114300" y="266700"/>
                  </a:lnTo>
                  <a:lnTo>
                    <a:pt x="114300" y="285750"/>
                  </a:lnTo>
                  <a:lnTo>
                    <a:pt x="180975" y="285750"/>
                  </a:lnTo>
                  <a:lnTo>
                    <a:pt x="190500" y="2667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22519" y="4852298"/>
              <a:ext cx="3342131" cy="10380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952999" y="4876800"/>
              <a:ext cx="3276600" cy="0"/>
            </a:xfrm>
            <a:custGeom>
              <a:avLst/>
              <a:gdLst/>
              <a:ahLst/>
              <a:cxnLst/>
              <a:rect l="l" t="t" r="r" b="b"/>
              <a:pathLst>
                <a:path w="3276600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ln w="38100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21552" y="4482083"/>
              <a:ext cx="463296" cy="6507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457949" y="4495800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76200" y="190500"/>
                  </a:moveTo>
                  <a:lnTo>
                    <a:pt x="0" y="190500"/>
                  </a:lnTo>
                  <a:lnTo>
                    <a:pt x="95250" y="381000"/>
                  </a:lnTo>
                  <a:lnTo>
                    <a:pt x="180975" y="209550"/>
                  </a:lnTo>
                  <a:lnTo>
                    <a:pt x="76200" y="209550"/>
                  </a:lnTo>
                  <a:lnTo>
                    <a:pt x="76200" y="190500"/>
                  </a:lnTo>
                  <a:close/>
                </a:path>
                <a:path w="190500" h="381000">
                  <a:moveTo>
                    <a:pt x="114300" y="0"/>
                  </a:moveTo>
                  <a:lnTo>
                    <a:pt x="76200" y="0"/>
                  </a:lnTo>
                  <a:lnTo>
                    <a:pt x="76200" y="209550"/>
                  </a:lnTo>
                  <a:lnTo>
                    <a:pt x="114300" y="209550"/>
                  </a:lnTo>
                  <a:lnTo>
                    <a:pt x="114300" y="0"/>
                  </a:lnTo>
                  <a:close/>
                </a:path>
                <a:path w="190500" h="381000">
                  <a:moveTo>
                    <a:pt x="190500" y="190500"/>
                  </a:moveTo>
                  <a:lnTo>
                    <a:pt x="114300" y="190500"/>
                  </a:lnTo>
                  <a:lnTo>
                    <a:pt x="114300" y="209550"/>
                  </a:lnTo>
                  <a:lnTo>
                    <a:pt x="180975" y="20955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21352" y="4863083"/>
              <a:ext cx="463296" cy="57454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857749" y="487680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76200" y="114300"/>
                  </a:moveTo>
                  <a:lnTo>
                    <a:pt x="0" y="114300"/>
                  </a:lnTo>
                  <a:lnTo>
                    <a:pt x="95250" y="304800"/>
                  </a:lnTo>
                  <a:lnTo>
                    <a:pt x="180975" y="133350"/>
                  </a:lnTo>
                  <a:lnTo>
                    <a:pt x="76200" y="133350"/>
                  </a:lnTo>
                  <a:lnTo>
                    <a:pt x="76200" y="114300"/>
                  </a:lnTo>
                  <a:close/>
                </a:path>
                <a:path w="190500" h="304800">
                  <a:moveTo>
                    <a:pt x="114300" y="0"/>
                  </a:moveTo>
                  <a:lnTo>
                    <a:pt x="76200" y="0"/>
                  </a:lnTo>
                  <a:lnTo>
                    <a:pt x="76200" y="133350"/>
                  </a:lnTo>
                  <a:lnTo>
                    <a:pt x="114300" y="133350"/>
                  </a:lnTo>
                  <a:lnTo>
                    <a:pt x="114300" y="0"/>
                  </a:lnTo>
                  <a:close/>
                </a:path>
                <a:path w="190500" h="304800">
                  <a:moveTo>
                    <a:pt x="190500" y="114300"/>
                  </a:moveTo>
                  <a:lnTo>
                    <a:pt x="114300" y="114300"/>
                  </a:lnTo>
                  <a:lnTo>
                    <a:pt x="114300" y="133350"/>
                  </a:lnTo>
                  <a:lnTo>
                    <a:pt x="180975" y="133350"/>
                  </a:lnTo>
                  <a:lnTo>
                    <a:pt x="190500" y="1143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97951" y="4863083"/>
              <a:ext cx="463296" cy="65074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134350" y="4876800"/>
              <a:ext cx="190500" cy="381000"/>
            </a:xfrm>
            <a:custGeom>
              <a:avLst/>
              <a:gdLst/>
              <a:ahLst/>
              <a:cxnLst/>
              <a:rect l="l" t="t" r="r" b="b"/>
              <a:pathLst>
                <a:path w="190500" h="381000">
                  <a:moveTo>
                    <a:pt x="76200" y="190500"/>
                  </a:moveTo>
                  <a:lnTo>
                    <a:pt x="0" y="190500"/>
                  </a:lnTo>
                  <a:lnTo>
                    <a:pt x="95250" y="381000"/>
                  </a:lnTo>
                  <a:lnTo>
                    <a:pt x="180975" y="209550"/>
                  </a:lnTo>
                  <a:lnTo>
                    <a:pt x="76200" y="209550"/>
                  </a:lnTo>
                  <a:lnTo>
                    <a:pt x="76200" y="190500"/>
                  </a:lnTo>
                  <a:close/>
                </a:path>
                <a:path w="190500" h="381000">
                  <a:moveTo>
                    <a:pt x="114300" y="0"/>
                  </a:moveTo>
                  <a:lnTo>
                    <a:pt x="76200" y="0"/>
                  </a:lnTo>
                  <a:lnTo>
                    <a:pt x="76200" y="209550"/>
                  </a:lnTo>
                  <a:lnTo>
                    <a:pt x="114300" y="209550"/>
                  </a:lnTo>
                  <a:lnTo>
                    <a:pt x="114300" y="0"/>
                  </a:lnTo>
                  <a:close/>
                </a:path>
                <a:path w="190500" h="381000">
                  <a:moveTo>
                    <a:pt x="190500" y="190500"/>
                  </a:moveTo>
                  <a:lnTo>
                    <a:pt x="114300" y="190500"/>
                  </a:lnTo>
                  <a:lnTo>
                    <a:pt x="114300" y="209550"/>
                  </a:lnTo>
                  <a:lnTo>
                    <a:pt x="180975" y="20955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70119" y="6223898"/>
              <a:ext cx="3570731" cy="10380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800599" y="6248400"/>
              <a:ext cx="3505200" cy="0"/>
            </a:xfrm>
            <a:custGeom>
              <a:avLst/>
              <a:gdLst/>
              <a:ahLst/>
              <a:cxnLst/>
              <a:rect l="l" t="t" r="r" b="b"/>
              <a:pathLst>
                <a:path w="3505200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ln w="38100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68952" y="5929883"/>
              <a:ext cx="463296" cy="57454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05349" y="5943600"/>
              <a:ext cx="190500" cy="304800"/>
            </a:xfrm>
            <a:custGeom>
              <a:avLst/>
              <a:gdLst/>
              <a:ahLst/>
              <a:cxnLst/>
              <a:rect l="l" t="t" r="r" b="b"/>
              <a:pathLst>
                <a:path w="190500" h="304800">
                  <a:moveTo>
                    <a:pt x="76200" y="114300"/>
                  </a:moveTo>
                  <a:lnTo>
                    <a:pt x="0" y="114300"/>
                  </a:lnTo>
                  <a:lnTo>
                    <a:pt x="95250" y="304800"/>
                  </a:lnTo>
                  <a:lnTo>
                    <a:pt x="180975" y="133350"/>
                  </a:lnTo>
                  <a:lnTo>
                    <a:pt x="76200" y="133350"/>
                  </a:lnTo>
                  <a:lnTo>
                    <a:pt x="76200" y="114300"/>
                  </a:lnTo>
                  <a:close/>
                </a:path>
                <a:path w="190500" h="304800">
                  <a:moveTo>
                    <a:pt x="114300" y="0"/>
                  </a:moveTo>
                  <a:lnTo>
                    <a:pt x="76200" y="0"/>
                  </a:lnTo>
                  <a:lnTo>
                    <a:pt x="76200" y="133350"/>
                  </a:lnTo>
                  <a:lnTo>
                    <a:pt x="114300" y="133350"/>
                  </a:lnTo>
                  <a:lnTo>
                    <a:pt x="114300" y="0"/>
                  </a:lnTo>
                  <a:close/>
                </a:path>
                <a:path w="190500" h="304800">
                  <a:moveTo>
                    <a:pt x="190500" y="114300"/>
                  </a:moveTo>
                  <a:lnTo>
                    <a:pt x="114300" y="114300"/>
                  </a:lnTo>
                  <a:lnTo>
                    <a:pt x="114300" y="133350"/>
                  </a:lnTo>
                  <a:lnTo>
                    <a:pt x="180975" y="133350"/>
                  </a:lnTo>
                  <a:lnTo>
                    <a:pt x="190500" y="1143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74151" y="6006083"/>
              <a:ext cx="463296" cy="49834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10550" y="6019800"/>
              <a:ext cx="190500" cy="2286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92952" y="6234683"/>
              <a:ext cx="463296" cy="49834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29349" y="6248400"/>
              <a:ext cx="190500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740152" y="6271259"/>
              <a:ext cx="3624072" cy="46177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71800" y="6381750"/>
              <a:ext cx="3352800" cy="190500"/>
            </a:xfrm>
            <a:custGeom>
              <a:avLst/>
              <a:gdLst/>
              <a:ahLst/>
              <a:cxnLst/>
              <a:rect l="l" t="t" r="r" b="b"/>
              <a:pathLst>
                <a:path w="3352800" h="190500">
                  <a:moveTo>
                    <a:pt x="190500" y="0"/>
                  </a:moveTo>
                  <a:lnTo>
                    <a:pt x="0" y="95250"/>
                  </a:lnTo>
                  <a:lnTo>
                    <a:pt x="190500" y="190500"/>
                  </a:lnTo>
                  <a:lnTo>
                    <a:pt x="190500" y="114300"/>
                  </a:lnTo>
                  <a:lnTo>
                    <a:pt x="171450" y="114300"/>
                  </a:lnTo>
                  <a:lnTo>
                    <a:pt x="171450" y="76200"/>
                  </a:lnTo>
                  <a:lnTo>
                    <a:pt x="190500" y="76200"/>
                  </a:lnTo>
                  <a:lnTo>
                    <a:pt x="190500" y="0"/>
                  </a:lnTo>
                  <a:close/>
                </a:path>
                <a:path w="3352800" h="190500">
                  <a:moveTo>
                    <a:pt x="190500" y="76200"/>
                  </a:moveTo>
                  <a:lnTo>
                    <a:pt x="171450" y="76200"/>
                  </a:lnTo>
                  <a:lnTo>
                    <a:pt x="171450" y="114300"/>
                  </a:lnTo>
                  <a:lnTo>
                    <a:pt x="190500" y="114300"/>
                  </a:lnTo>
                  <a:lnTo>
                    <a:pt x="190500" y="76200"/>
                  </a:lnTo>
                  <a:close/>
                </a:path>
                <a:path w="3352800" h="190500">
                  <a:moveTo>
                    <a:pt x="3352800" y="76200"/>
                  </a:moveTo>
                  <a:lnTo>
                    <a:pt x="190500" y="76200"/>
                  </a:lnTo>
                  <a:lnTo>
                    <a:pt x="190500" y="114300"/>
                  </a:lnTo>
                  <a:lnTo>
                    <a:pt x="3352800" y="114300"/>
                  </a:lnTo>
                  <a:lnTo>
                    <a:pt x="3352800" y="76200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288794" y="3589401"/>
            <a:ext cx="2641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95" dirty="0">
                <a:latin typeface="Times New Roman"/>
                <a:cs typeface="Times New Roman"/>
              </a:rPr>
              <a:t>Yes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03903" y="2598547"/>
            <a:ext cx="241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Times New Roman"/>
                <a:cs typeface="Times New Roman"/>
              </a:rPr>
              <a:t>No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32" y="66547"/>
            <a:ext cx="9020175" cy="6699884"/>
            <a:chOff x="60832" y="66547"/>
            <a:chExt cx="9020175" cy="669988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9522" y="544067"/>
              <a:ext cx="2013190" cy="4526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3543" y="541020"/>
              <a:ext cx="1607820" cy="4526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54600" y="563333"/>
              <a:ext cx="1922779" cy="3585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54600" y="563333"/>
              <a:ext cx="1922780" cy="358775"/>
            </a:xfrm>
            <a:custGeom>
              <a:avLst/>
              <a:gdLst/>
              <a:ahLst/>
              <a:cxnLst/>
              <a:rect l="l" t="t" r="r" b="b"/>
              <a:pathLst>
                <a:path w="1922779" h="358775">
                  <a:moveTo>
                    <a:pt x="0" y="358559"/>
                  </a:moveTo>
                  <a:lnTo>
                    <a:pt x="1922779" y="358559"/>
                  </a:lnTo>
                  <a:lnTo>
                    <a:pt x="1922779" y="0"/>
                  </a:lnTo>
                  <a:lnTo>
                    <a:pt x="0" y="0"/>
                  </a:lnTo>
                  <a:lnTo>
                    <a:pt x="0" y="358559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68888" y="590550"/>
            <a:ext cx="1894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Block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Placement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24116" y="92964"/>
            <a:ext cx="2016760" cy="879475"/>
            <a:chOff x="7024116" y="92964"/>
            <a:chExt cx="2016760" cy="8794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4116" y="94488"/>
              <a:ext cx="2016252" cy="4526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78624" y="92964"/>
              <a:ext cx="1502664" cy="8793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68820" y="114261"/>
              <a:ext cx="1922779" cy="3585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68820" y="114261"/>
              <a:ext cx="1922780" cy="358775"/>
            </a:xfrm>
            <a:custGeom>
              <a:avLst/>
              <a:gdLst/>
              <a:ahLst/>
              <a:cxnLst/>
              <a:rect l="l" t="t" r="r" b="b"/>
              <a:pathLst>
                <a:path w="1922779" h="358775">
                  <a:moveTo>
                    <a:pt x="0" y="358559"/>
                  </a:moveTo>
                  <a:lnTo>
                    <a:pt x="1922779" y="358559"/>
                  </a:lnTo>
                  <a:lnTo>
                    <a:pt x="1922779" y="0"/>
                  </a:lnTo>
                  <a:lnTo>
                    <a:pt x="0" y="0"/>
                  </a:lnTo>
                  <a:lnTo>
                    <a:pt x="0" y="358559"/>
                  </a:lnTo>
                  <a:close/>
                </a:path>
              </a:pathLst>
            </a:custGeom>
            <a:ln w="28574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13117" y="141223"/>
            <a:ext cx="12344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Direct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Mapping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014971" y="513587"/>
            <a:ext cx="2030095" cy="469900"/>
            <a:chOff x="7014971" y="513587"/>
            <a:chExt cx="2030095" cy="46990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14971" y="513587"/>
              <a:ext cx="2029968" cy="4693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21295" y="521207"/>
              <a:ext cx="1463040" cy="4526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68819" y="542670"/>
              <a:ext cx="1922779" cy="36055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068819" y="542670"/>
              <a:ext cx="1922780" cy="360680"/>
            </a:xfrm>
            <a:custGeom>
              <a:avLst/>
              <a:gdLst/>
              <a:ahLst/>
              <a:cxnLst/>
              <a:rect l="l" t="t" r="r" b="b"/>
              <a:pathLst>
                <a:path w="1922779" h="360680">
                  <a:moveTo>
                    <a:pt x="0" y="360552"/>
                  </a:moveTo>
                  <a:lnTo>
                    <a:pt x="1922779" y="360552"/>
                  </a:lnTo>
                  <a:lnTo>
                    <a:pt x="1922779" y="0"/>
                  </a:lnTo>
                  <a:lnTo>
                    <a:pt x="0" y="0"/>
                  </a:lnTo>
                  <a:lnTo>
                    <a:pt x="0" y="360552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55789" y="569721"/>
            <a:ext cx="11506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Set</a:t>
            </a:r>
            <a:r>
              <a:rPr sz="1400" b="1" spc="-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Associative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09522" y="132587"/>
            <a:ext cx="4531360" cy="2432685"/>
            <a:chOff x="4509522" y="132587"/>
            <a:chExt cx="4531360" cy="2432685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24116" y="993648"/>
              <a:ext cx="2016252" cy="4526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42047" y="990599"/>
              <a:ext cx="1620011" cy="4526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68819" y="1013040"/>
              <a:ext cx="1922779" cy="35855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068819" y="1013040"/>
              <a:ext cx="1922780" cy="358775"/>
            </a:xfrm>
            <a:custGeom>
              <a:avLst/>
              <a:gdLst/>
              <a:ahLst/>
              <a:cxnLst/>
              <a:rect l="l" t="t" r="r" b="b"/>
              <a:pathLst>
                <a:path w="1922779" h="358775">
                  <a:moveTo>
                    <a:pt x="0" y="358559"/>
                  </a:moveTo>
                  <a:lnTo>
                    <a:pt x="1922779" y="358559"/>
                  </a:lnTo>
                  <a:lnTo>
                    <a:pt x="1922779" y="0"/>
                  </a:lnTo>
                  <a:lnTo>
                    <a:pt x="0" y="0"/>
                  </a:lnTo>
                  <a:lnTo>
                    <a:pt x="0" y="358559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28332" y="228599"/>
              <a:ext cx="94678" cy="101955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773925" y="233425"/>
              <a:ext cx="0" cy="958850"/>
            </a:xfrm>
            <a:custGeom>
              <a:avLst/>
              <a:gdLst/>
              <a:ahLst/>
              <a:cxnLst/>
              <a:rect l="l" t="t" r="r" b="b"/>
              <a:pathLst>
                <a:path h="958850">
                  <a:moveTo>
                    <a:pt x="0" y="0"/>
                  </a:moveTo>
                  <a:lnTo>
                    <a:pt x="0" y="958596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34555" y="132587"/>
              <a:ext cx="460248" cy="25145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773925" y="190499"/>
              <a:ext cx="295275" cy="85725"/>
            </a:xfrm>
            <a:custGeom>
              <a:avLst/>
              <a:gdLst/>
              <a:ahLst/>
              <a:cxnLst/>
              <a:rect l="l" t="t" r="r" b="b"/>
              <a:pathLst>
                <a:path w="295275" h="85725">
                  <a:moveTo>
                    <a:pt x="209169" y="0"/>
                  </a:moveTo>
                  <a:lnTo>
                    <a:pt x="209169" y="85725"/>
                  </a:lnTo>
                  <a:lnTo>
                    <a:pt x="266403" y="57150"/>
                  </a:lnTo>
                  <a:lnTo>
                    <a:pt x="223520" y="57150"/>
                  </a:lnTo>
                  <a:lnTo>
                    <a:pt x="223520" y="28575"/>
                  </a:lnTo>
                  <a:lnTo>
                    <a:pt x="266234" y="28575"/>
                  </a:lnTo>
                  <a:lnTo>
                    <a:pt x="209169" y="0"/>
                  </a:lnTo>
                  <a:close/>
                </a:path>
                <a:path w="295275" h="85725">
                  <a:moveTo>
                    <a:pt x="209169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9169" y="57150"/>
                  </a:lnTo>
                  <a:lnTo>
                    <a:pt x="209169" y="28575"/>
                  </a:lnTo>
                  <a:close/>
                </a:path>
                <a:path w="295275" h="85725">
                  <a:moveTo>
                    <a:pt x="266234" y="28575"/>
                  </a:moveTo>
                  <a:lnTo>
                    <a:pt x="223520" y="28575"/>
                  </a:lnTo>
                  <a:lnTo>
                    <a:pt x="223520" y="57150"/>
                  </a:lnTo>
                  <a:lnTo>
                    <a:pt x="266403" y="57150"/>
                  </a:lnTo>
                  <a:lnTo>
                    <a:pt x="294894" y="42925"/>
                  </a:lnTo>
                  <a:lnTo>
                    <a:pt x="266234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34555" y="612647"/>
              <a:ext cx="460248" cy="25146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773925" y="670179"/>
              <a:ext cx="295275" cy="85725"/>
            </a:xfrm>
            <a:custGeom>
              <a:avLst/>
              <a:gdLst/>
              <a:ahLst/>
              <a:cxnLst/>
              <a:rect l="l" t="t" r="r" b="b"/>
              <a:pathLst>
                <a:path w="295275" h="85725">
                  <a:moveTo>
                    <a:pt x="209169" y="0"/>
                  </a:moveTo>
                  <a:lnTo>
                    <a:pt x="209169" y="85725"/>
                  </a:lnTo>
                  <a:lnTo>
                    <a:pt x="266234" y="57150"/>
                  </a:lnTo>
                  <a:lnTo>
                    <a:pt x="223520" y="57150"/>
                  </a:lnTo>
                  <a:lnTo>
                    <a:pt x="223520" y="28575"/>
                  </a:lnTo>
                  <a:lnTo>
                    <a:pt x="266403" y="28575"/>
                  </a:lnTo>
                  <a:lnTo>
                    <a:pt x="209169" y="0"/>
                  </a:lnTo>
                  <a:close/>
                </a:path>
                <a:path w="295275" h="85725">
                  <a:moveTo>
                    <a:pt x="209169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9169" y="57150"/>
                  </a:lnTo>
                  <a:lnTo>
                    <a:pt x="209169" y="28575"/>
                  </a:lnTo>
                  <a:close/>
                </a:path>
                <a:path w="295275" h="85725">
                  <a:moveTo>
                    <a:pt x="266403" y="28575"/>
                  </a:moveTo>
                  <a:lnTo>
                    <a:pt x="223520" y="28575"/>
                  </a:lnTo>
                  <a:lnTo>
                    <a:pt x="223520" y="57150"/>
                  </a:lnTo>
                  <a:lnTo>
                    <a:pt x="266234" y="57150"/>
                  </a:lnTo>
                  <a:lnTo>
                    <a:pt x="294894" y="42799"/>
                  </a:lnTo>
                  <a:lnTo>
                    <a:pt x="266403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34555" y="1101851"/>
              <a:ext cx="460248" cy="25146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773925" y="1159129"/>
              <a:ext cx="295275" cy="85725"/>
            </a:xfrm>
            <a:custGeom>
              <a:avLst/>
              <a:gdLst/>
              <a:ahLst/>
              <a:cxnLst/>
              <a:rect l="l" t="t" r="r" b="b"/>
              <a:pathLst>
                <a:path w="295275" h="85725">
                  <a:moveTo>
                    <a:pt x="209169" y="0"/>
                  </a:moveTo>
                  <a:lnTo>
                    <a:pt x="209169" y="85725"/>
                  </a:lnTo>
                  <a:lnTo>
                    <a:pt x="266234" y="57150"/>
                  </a:lnTo>
                  <a:lnTo>
                    <a:pt x="223520" y="57150"/>
                  </a:lnTo>
                  <a:lnTo>
                    <a:pt x="223520" y="28575"/>
                  </a:lnTo>
                  <a:lnTo>
                    <a:pt x="266403" y="28575"/>
                  </a:lnTo>
                  <a:lnTo>
                    <a:pt x="209169" y="0"/>
                  </a:lnTo>
                  <a:close/>
                </a:path>
                <a:path w="295275" h="85725">
                  <a:moveTo>
                    <a:pt x="209169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9169" y="57150"/>
                  </a:lnTo>
                  <a:lnTo>
                    <a:pt x="209169" y="28575"/>
                  </a:lnTo>
                  <a:close/>
                </a:path>
                <a:path w="295275" h="85725">
                  <a:moveTo>
                    <a:pt x="266403" y="28575"/>
                  </a:moveTo>
                  <a:lnTo>
                    <a:pt x="223520" y="28575"/>
                  </a:lnTo>
                  <a:lnTo>
                    <a:pt x="223520" y="57150"/>
                  </a:lnTo>
                  <a:lnTo>
                    <a:pt x="266234" y="57150"/>
                  </a:lnTo>
                  <a:lnTo>
                    <a:pt x="294894" y="42799"/>
                  </a:lnTo>
                  <a:lnTo>
                    <a:pt x="266403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37375" y="684275"/>
              <a:ext cx="376427" cy="10820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477253" y="712978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79">
                  <a:moveTo>
                    <a:pt x="0" y="0"/>
                  </a:moveTo>
                  <a:lnTo>
                    <a:pt x="296672" y="0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09522" y="2110769"/>
              <a:ext cx="2013190" cy="45410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14671" y="2109215"/>
              <a:ext cx="1845564" cy="45262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54600" y="2130628"/>
              <a:ext cx="1922779" cy="36009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554600" y="2130628"/>
              <a:ext cx="1922780" cy="360680"/>
            </a:xfrm>
            <a:custGeom>
              <a:avLst/>
              <a:gdLst/>
              <a:ahLst/>
              <a:cxnLst/>
              <a:rect l="l" t="t" r="r" b="b"/>
              <a:pathLst>
                <a:path w="1922779" h="360680">
                  <a:moveTo>
                    <a:pt x="0" y="360095"/>
                  </a:moveTo>
                  <a:lnTo>
                    <a:pt x="1922779" y="360095"/>
                  </a:lnTo>
                  <a:lnTo>
                    <a:pt x="1922779" y="0"/>
                  </a:lnTo>
                  <a:lnTo>
                    <a:pt x="0" y="0"/>
                  </a:lnTo>
                  <a:lnTo>
                    <a:pt x="0" y="360095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568888" y="2158111"/>
            <a:ext cx="1894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Block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Identification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024116" y="1690116"/>
            <a:ext cx="2016760" cy="454659"/>
            <a:chOff x="7024116" y="1690116"/>
            <a:chExt cx="2016760" cy="454659"/>
          </a:xfrm>
        </p:grpSpPr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24116" y="1691640"/>
              <a:ext cx="2016252" cy="45262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43444" y="1690116"/>
              <a:ext cx="618744" cy="45262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68820" y="1711337"/>
              <a:ext cx="1922779" cy="35876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068820" y="1711337"/>
              <a:ext cx="1922780" cy="358775"/>
            </a:xfrm>
            <a:custGeom>
              <a:avLst/>
              <a:gdLst/>
              <a:ahLst/>
              <a:cxnLst/>
              <a:rect l="l" t="t" r="r" b="b"/>
              <a:pathLst>
                <a:path w="1922779" h="358775">
                  <a:moveTo>
                    <a:pt x="0" y="358762"/>
                  </a:moveTo>
                  <a:lnTo>
                    <a:pt x="1922779" y="358762"/>
                  </a:lnTo>
                  <a:lnTo>
                    <a:pt x="1922779" y="0"/>
                  </a:lnTo>
                  <a:lnTo>
                    <a:pt x="0" y="0"/>
                  </a:lnTo>
                  <a:lnTo>
                    <a:pt x="0" y="358762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376541" y="1040079"/>
            <a:ext cx="1307465" cy="938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Fully</a:t>
            </a:r>
            <a:r>
              <a:rPr sz="1400" b="1" spc="-11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Associative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40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latin typeface="Times New Roman"/>
                <a:cs typeface="Times New Roman"/>
              </a:rPr>
              <a:t>Tag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014971" y="2101595"/>
            <a:ext cx="2030095" cy="467995"/>
            <a:chOff x="7014971" y="2101595"/>
            <a:chExt cx="2030095" cy="467995"/>
          </a:xfrm>
        </p:grpSpPr>
        <p:pic>
          <p:nvPicPr>
            <p:cNvPr id="47" name="object 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014971" y="2101595"/>
              <a:ext cx="2029968" cy="46786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65719" y="2109215"/>
              <a:ext cx="774192" cy="45262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068819" y="2130628"/>
              <a:ext cx="1922779" cy="36009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068819" y="2130628"/>
              <a:ext cx="1922780" cy="360680"/>
            </a:xfrm>
            <a:custGeom>
              <a:avLst/>
              <a:gdLst/>
              <a:ahLst/>
              <a:cxnLst/>
              <a:rect l="l" t="t" r="r" b="b"/>
              <a:pathLst>
                <a:path w="1922779" h="360680">
                  <a:moveTo>
                    <a:pt x="0" y="360095"/>
                  </a:moveTo>
                  <a:lnTo>
                    <a:pt x="1922779" y="360095"/>
                  </a:lnTo>
                  <a:lnTo>
                    <a:pt x="1922779" y="0"/>
                  </a:lnTo>
                  <a:lnTo>
                    <a:pt x="0" y="0"/>
                  </a:lnTo>
                  <a:lnTo>
                    <a:pt x="0" y="360095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800213" y="2158111"/>
            <a:ext cx="4622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imes New Roman"/>
                <a:cs typeface="Times New Roman"/>
              </a:rPr>
              <a:t>Index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014971" y="2532888"/>
            <a:ext cx="2030095" cy="466725"/>
            <a:chOff x="7014971" y="2532888"/>
            <a:chExt cx="2030095" cy="466725"/>
          </a:xfrm>
        </p:grpSpPr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14971" y="2532888"/>
              <a:ext cx="2029968" cy="46634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650479" y="2538984"/>
              <a:ext cx="803148" cy="45262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068819" y="2560586"/>
              <a:ext cx="1922779" cy="35876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068819" y="2560586"/>
              <a:ext cx="1922780" cy="358775"/>
            </a:xfrm>
            <a:custGeom>
              <a:avLst/>
              <a:gdLst/>
              <a:ahLst/>
              <a:cxnLst/>
              <a:rect l="l" t="t" r="r" b="b"/>
              <a:pathLst>
                <a:path w="1922779" h="358775">
                  <a:moveTo>
                    <a:pt x="0" y="358762"/>
                  </a:moveTo>
                  <a:lnTo>
                    <a:pt x="1922779" y="358762"/>
                  </a:lnTo>
                  <a:lnTo>
                    <a:pt x="1922779" y="0"/>
                  </a:lnTo>
                  <a:lnTo>
                    <a:pt x="0" y="0"/>
                  </a:lnTo>
                  <a:lnTo>
                    <a:pt x="0" y="358762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784972" y="2588132"/>
            <a:ext cx="491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imes New Roman"/>
                <a:cs typeface="Times New Roman"/>
              </a:rPr>
              <a:t>Offset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509509" y="1729739"/>
            <a:ext cx="2685415" cy="2522220"/>
            <a:chOff x="4509509" y="1729739"/>
            <a:chExt cx="2685415" cy="2522220"/>
          </a:xfrm>
        </p:grpSpPr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28333" y="1825751"/>
              <a:ext cx="94678" cy="101955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773926" y="1830450"/>
              <a:ext cx="0" cy="959485"/>
            </a:xfrm>
            <a:custGeom>
              <a:avLst/>
              <a:gdLst/>
              <a:ahLst/>
              <a:cxnLst/>
              <a:rect l="l" t="t" r="r" b="b"/>
              <a:pathLst>
                <a:path h="959485">
                  <a:moveTo>
                    <a:pt x="0" y="0"/>
                  </a:moveTo>
                  <a:lnTo>
                    <a:pt x="0" y="959103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34556" y="1729739"/>
              <a:ext cx="460248" cy="25146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773926" y="1787651"/>
              <a:ext cx="295275" cy="85725"/>
            </a:xfrm>
            <a:custGeom>
              <a:avLst/>
              <a:gdLst/>
              <a:ahLst/>
              <a:cxnLst/>
              <a:rect l="l" t="t" r="r" b="b"/>
              <a:pathLst>
                <a:path w="295275" h="85725">
                  <a:moveTo>
                    <a:pt x="209169" y="0"/>
                  </a:moveTo>
                  <a:lnTo>
                    <a:pt x="209169" y="85725"/>
                  </a:lnTo>
                  <a:lnTo>
                    <a:pt x="266234" y="57150"/>
                  </a:lnTo>
                  <a:lnTo>
                    <a:pt x="223520" y="57150"/>
                  </a:lnTo>
                  <a:lnTo>
                    <a:pt x="223520" y="28575"/>
                  </a:lnTo>
                  <a:lnTo>
                    <a:pt x="266403" y="28575"/>
                  </a:lnTo>
                  <a:lnTo>
                    <a:pt x="209169" y="0"/>
                  </a:lnTo>
                  <a:close/>
                </a:path>
                <a:path w="295275" h="85725">
                  <a:moveTo>
                    <a:pt x="209169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9169" y="57150"/>
                  </a:lnTo>
                  <a:lnTo>
                    <a:pt x="209169" y="28575"/>
                  </a:lnTo>
                  <a:close/>
                </a:path>
                <a:path w="295275" h="85725">
                  <a:moveTo>
                    <a:pt x="266403" y="28575"/>
                  </a:moveTo>
                  <a:lnTo>
                    <a:pt x="223520" y="28575"/>
                  </a:lnTo>
                  <a:lnTo>
                    <a:pt x="223520" y="57150"/>
                  </a:lnTo>
                  <a:lnTo>
                    <a:pt x="266234" y="57150"/>
                  </a:lnTo>
                  <a:lnTo>
                    <a:pt x="294894" y="42799"/>
                  </a:lnTo>
                  <a:lnTo>
                    <a:pt x="266403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734556" y="2209799"/>
              <a:ext cx="460248" cy="25146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773926" y="2266822"/>
              <a:ext cx="295275" cy="85725"/>
            </a:xfrm>
            <a:custGeom>
              <a:avLst/>
              <a:gdLst/>
              <a:ahLst/>
              <a:cxnLst/>
              <a:rect l="l" t="t" r="r" b="b"/>
              <a:pathLst>
                <a:path w="295275" h="85725">
                  <a:moveTo>
                    <a:pt x="209169" y="0"/>
                  </a:moveTo>
                  <a:lnTo>
                    <a:pt x="209169" y="85725"/>
                  </a:lnTo>
                  <a:lnTo>
                    <a:pt x="266403" y="57150"/>
                  </a:lnTo>
                  <a:lnTo>
                    <a:pt x="223520" y="57150"/>
                  </a:lnTo>
                  <a:lnTo>
                    <a:pt x="223520" y="28575"/>
                  </a:lnTo>
                  <a:lnTo>
                    <a:pt x="266234" y="28575"/>
                  </a:lnTo>
                  <a:lnTo>
                    <a:pt x="209169" y="0"/>
                  </a:lnTo>
                  <a:close/>
                </a:path>
                <a:path w="295275" h="85725">
                  <a:moveTo>
                    <a:pt x="209169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9169" y="57150"/>
                  </a:lnTo>
                  <a:lnTo>
                    <a:pt x="209169" y="28575"/>
                  </a:lnTo>
                  <a:close/>
                </a:path>
                <a:path w="295275" h="85725">
                  <a:moveTo>
                    <a:pt x="266234" y="28575"/>
                  </a:moveTo>
                  <a:lnTo>
                    <a:pt x="223520" y="28575"/>
                  </a:lnTo>
                  <a:lnTo>
                    <a:pt x="223520" y="57150"/>
                  </a:lnTo>
                  <a:lnTo>
                    <a:pt x="266403" y="57150"/>
                  </a:lnTo>
                  <a:lnTo>
                    <a:pt x="294894" y="42925"/>
                  </a:lnTo>
                  <a:lnTo>
                    <a:pt x="266234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734556" y="2700527"/>
              <a:ext cx="460248" cy="25146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773926" y="2757423"/>
              <a:ext cx="295275" cy="85725"/>
            </a:xfrm>
            <a:custGeom>
              <a:avLst/>
              <a:gdLst/>
              <a:ahLst/>
              <a:cxnLst/>
              <a:rect l="l" t="t" r="r" b="b"/>
              <a:pathLst>
                <a:path w="295275" h="85725">
                  <a:moveTo>
                    <a:pt x="209169" y="0"/>
                  </a:moveTo>
                  <a:lnTo>
                    <a:pt x="209169" y="85725"/>
                  </a:lnTo>
                  <a:lnTo>
                    <a:pt x="266234" y="57150"/>
                  </a:lnTo>
                  <a:lnTo>
                    <a:pt x="223520" y="57150"/>
                  </a:lnTo>
                  <a:lnTo>
                    <a:pt x="223520" y="28575"/>
                  </a:lnTo>
                  <a:lnTo>
                    <a:pt x="266403" y="28575"/>
                  </a:lnTo>
                  <a:lnTo>
                    <a:pt x="209169" y="0"/>
                  </a:lnTo>
                  <a:close/>
                </a:path>
                <a:path w="295275" h="85725">
                  <a:moveTo>
                    <a:pt x="209169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9169" y="57150"/>
                  </a:lnTo>
                  <a:lnTo>
                    <a:pt x="209169" y="28575"/>
                  </a:lnTo>
                  <a:close/>
                </a:path>
                <a:path w="295275" h="85725">
                  <a:moveTo>
                    <a:pt x="266403" y="28575"/>
                  </a:moveTo>
                  <a:lnTo>
                    <a:pt x="223520" y="28575"/>
                  </a:lnTo>
                  <a:lnTo>
                    <a:pt x="223520" y="57150"/>
                  </a:lnTo>
                  <a:lnTo>
                    <a:pt x="266234" y="57150"/>
                  </a:lnTo>
                  <a:lnTo>
                    <a:pt x="294894" y="42799"/>
                  </a:lnTo>
                  <a:lnTo>
                    <a:pt x="266403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437376" y="2281427"/>
              <a:ext cx="376427" cy="10820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477254" y="2309748"/>
              <a:ext cx="297180" cy="0"/>
            </a:xfrm>
            <a:custGeom>
              <a:avLst/>
              <a:gdLst/>
              <a:ahLst/>
              <a:cxnLst/>
              <a:rect l="l" t="t" r="r" b="b"/>
              <a:pathLst>
                <a:path w="297179">
                  <a:moveTo>
                    <a:pt x="0" y="0"/>
                  </a:moveTo>
                  <a:lnTo>
                    <a:pt x="296672" y="0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509509" y="3797837"/>
              <a:ext cx="2005594" cy="454107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628388" y="3796283"/>
              <a:ext cx="1805939" cy="452627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554601" y="3817797"/>
              <a:ext cx="1911350" cy="359105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554601" y="3817797"/>
              <a:ext cx="1911350" cy="359410"/>
            </a:xfrm>
            <a:custGeom>
              <a:avLst/>
              <a:gdLst/>
              <a:ahLst/>
              <a:cxnLst/>
              <a:rect l="l" t="t" r="r" b="b"/>
              <a:pathLst>
                <a:path w="1911350" h="359410">
                  <a:moveTo>
                    <a:pt x="0" y="359105"/>
                  </a:moveTo>
                  <a:lnTo>
                    <a:pt x="1911350" y="359105"/>
                  </a:lnTo>
                  <a:lnTo>
                    <a:pt x="1911350" y="0"/>
                  </a:lnTo>
                  <a:lnTo>
                    <a:pt x="0" y="0"/>
                  </a:lnTo>
                  <a:lnTo>
                    <a:pt x="0" y="359105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568888" y="3845433"/>
            <a:ext cx="18827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Block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Replacement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7031739" y="3307079"/>
            <a:ext cx="2009139" cy="455930"/>
            <a:chOff x="7031739" y="3307079"/>
            <a:chExt cx="2009139" cy="455930"/>
          </a:xfrm>
        </p:grpSpPr>
        <p:pic>
          <p:nvPicPr>
            <p:cNvPr id="75" name="object 7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031739" y="3310127"/>
              <a:ext cx="2008625" cy="45262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667244" y="3307079"/>
              <a:ext cx="780288" cy="45262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080377" y="3328974"/>
              <a:ext cx="1911350" cy="359105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7080250" y="3328974"/>
              <a:ext cx="1911350" cy="359410"/>
            </a:xfrm>
            <a:custGeom>
              <a:avLst/>
              <a:gdLst/>
              <a:ahLst/>
              <a:cxnLst/>
              <a:rect l="l" t="t" r="r" b="b"/>
              <a:pathLst>
                <a:path w="1911350" h="359410">
                  <a:moveTo>
                    <a:pt x="0" y="359105"/>
                  </a:moveTo>
                  <a:lnTo>
                    <a:pt x="1911350" y="359105"/>
                  </a:lnTo>
                  <a:lnTo>
                    <a:pt x="1911350" y="0"/>
                  </a:lnTo>
                  <a:lnTo>
                    <a:pt x="0" y="0"/>
                  </a:lnTo>
                  <a:lnTo>
                    <a:pt x="0" y="359105"/>
                  </a:lnTo>
                  <a:close/>
                </a:path>
              </a:pathLst>
            </a:custGeom>
            <a:ln w="28574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7802626" y="3356609"/>
            <a:ext cx="4686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Times New Roman"/>
                <a:cs typeface="Times New Roman"/>
              </a:rPr>
              <a:t>FCFS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7022585" y="3787140"/>
            <a:ext cx="2005964" cy="452755"/>
            <a:chOff x="7022585" y="3787140"/>
            <a:chExt cx="2005964" cy="452755"/>
          </a:xfrm>
        </p:grpSpPr>
        <p:pic>
          <p:nvPicPr>
            <p:cNvPr id="81" name="object 8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022585" y="3788694"/>
              <a:ext cx="2005594" cy="44952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688580" y="3787140"/>
              <a:ext cx="711707" cy="452628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067296" y="3808526"/>
              <a:ext cx="1911350" cy="359105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7067296" y="3808526"/>
              <a:ext cx="1911350" cy="359410"/>
            </a:xfrm>
            <a:custGeom>
              <a:avLst/>
              <a:gdLst/>
              <a:ahLst/>
              <a:cxnLst/>
              <a:rect l="l" t="t" r="r" b="b"/>
              <a:pathLst>
                <a:path w="1911350" h="359410">
                  <a:moveTo>
                    <a:pt x="0" y="359105"/>
                  </a:moveTo>
                  <a:lnTo>
                    <a:pt x="1911350" y="359105"/>
                  </a:lnTo>
                  <a:lnTo>
                    <a:pt x="1911350" y="0"/>
                  </a:lnTo>
                  <a:lnTo>
                    <a:pt x="0" y="0"/>
                  </a:lnTo>
                  <a:lnTo>
                    <a:pt x="0" y="359105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7823072" y="3836289"/>
            <a:ext cx="4013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Times New Roman"/>
                <a:cs typeface="Times New Roman"/>
              </a:rPr>
              <a:t>LRU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509515" y="3416808"/>
            <a:ext cx="4518660" cy="2720340"/>
            <a:chOff x="4509515" y="3416808"/>
            <a:chExt cx="4518660" cy="2720340"/>
          </a:xfrm>
        </p:grpSpPr>
        <p:pic>
          <p:nvPicPr>
            <p:cNvPr id="87" name="object 8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022584" y="4287042"/>
              <a:ext cx="2005594" cy="44952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549895" y="4283964"/>
              <a:ext cx="989076" cy="45262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067295" y="4306620"/>
              <a:ext cx="1911350" cy="359105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7067295" y="4306493"/>
              <a:ext cx="1911350" cy="359410"/>
            </a:xfrm>
            <a:custGeom>
              <a:avLst/>
              <a:gdLst/>
              <a:ahLst/>
              <a:cxnLst/>
              <a:rect l="l" t="t" r="r" b="b"/>
              <a:pathLst>
                <a:path w="1911350" h="359410">
                  <a:moveTo>
                    <a:pt x="0" y="359105"/>
                  </a:moveTo>
                  <a:lnTo>
                    <a:pt x="1911350" y="359105"/>
                  </a:lnTo>
                  <a:lnTo>
                    <a:pt x="1911350" y="0"/>
                  </a:lnTo>
                  <a:lnTo>
                    <a:pt x="0" y="0"/>
                  </a:lnTo>
                  <a:lnTo>
                    <a:pt x="0" y="359105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711632" y="3512820"/>
              <a:ext cx="94678" cy="1019555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760844" y="3517900"/>
              <a:ext cx="0" cy="958850"/>
            </a:xfrm>
            <a:custGeom>
              <a:avLst/>
              <a:gdLst/>
              <a:ahLst/>
              <a:cxnLst/>
              <a:rect l="l" t="t" r="r" b="b"/>
              <a:pathLst>
                <a:path h="958850">
                  <a:moveTo>
                    <a:pt x="0" y="0"/>
                  </a:moveTo>
                  <a:lnTo>
                    <a:pt x="0" y="958850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720839" y="3416808"/>
              <a:ext cx="458724" cy="252983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6760844" y="3474974"/>
              <a:ext cx="293370" cy="85725"/>
            </a:xfrm>
            <a:custGeom>
              <a:avLst/>
              <a:gdLst/>
              <a:ahLst/>
              <a:cxnLst/>
              <a:rect l="l" t="t" r="r" b="b"/>
              <a:pathLst>
                <a:path w="293370" h="85725">
                  <a:moveTo>
                    <a:pt x="207645" y="0"/>
                  </a:moveTo>
                  <a:lnTo>
                    <a:pt x="207645" y="85725"/>
                  </a:lnTo>
                  <a:lnTo>
                    <a:pt x="264879" y="57150"/>
                  </a:lnTo>
                  <a:lnTo>
                    <a:pt x="221869" y="57150"/>
                  </a:lnTo>
                  <a:lnTo>
                    <a:pt x="221869" y="28575"/>
                  </a:lnTo>
                  <a:lnTo>
                    <a:pt x="264710" y="28575"/>
                  </a:lnTo>
                  <a:lnTo>
                    <a:pt x="207645" y="0"/>
                  </a:lnTo>
                  <a:close/>
                </a:path>
                <a:path w="293370" h="85725">
                  <a:moveTo>
                    <a:pt x="20764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7645" y="57150"/>
                  </a:lnTo>
                  <a:lnTo>
                    <a:pt x="207645" y="28575"/>
                  </a:lnTo>
                  <a:close/>
                </a:path>
                <a:path w="293370" h="85725">
                  <a:moveTo>
                    <a:pt x="264710" y="28575"/>
                  </a:moveTo>
                  <a:lnTo>
                    <a:pt x="221869" y="28575"/>
                  </a:lnTo>
                  <a:lnTo>
                    <a:pt x="221869" y="57150"/>
                  </a:lnTo>
                  <a:lnTo>
                    <a:pt x="264879" y="57150"/>
                  </a:lnTo>
                  <a:lnTo>
                    <a:pt x="293370" y="42925"/>
                  </a:lnTo>
                  <a:lnTo>
                    <a:pt x="264710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720839" y="3896868"/>
              <a:ext cx="458724" cy="25146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6760844" y="3954526"/>
              <a:ext cx="293370" cy="85725"/>
            </a:xfrm>
            <a:custGeom>
              <a:avLst/>
              <a:gdLst/>
              <a:ahLst/>
              <a:cxnLst/>
              <a:rect l="l" t="t" r="r" b="b"/>
              <a:pathLst>
                <a:path w="293370" h="85725">
                  <a:moveTo>
                    <a:pt x="207645" y="0"/>
                  </a:moveTo>
                  <a:lnTo>
                    <a:pt x="207645" y="85725"/>
                  </a:lnTo>
                  <a:lnTo>
                    <a:pt x="264710" y="57150"/>
                  </a:lnTo>
                  <a:lnTo>
                    <a:pt x="221869" y="57150"/>
                  </a:lnTo>
                  <a:lnTo>
                    <a:pt x="221869" y="28575"/>
                  </a:lnTo>
                  <a:lnTo>
                    <a:pt x="264879" y="28575"/>
                  </a:lnTo>
                  <a:lnTo>
                    <a:pt x="207645" y="0"/>
                  </a:lnTo>
                  <a:close/>
                </a:path>
                <a:path w="293370" h="85725">
                  <a:moveTo>
                    <a:pt x="20764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7645" y="57150"/>
                  </a:lnTo>
                  <a:lnTo>
                    <a:pt x="207645" y="28575"/>
                  </a:lnTo>
                  <a:close/>
                </a:path>
                <a:path w="293370" h="85725">
                  <a:moveTo>
                    <a:pt x="264879" y="28575"/>
                  </a:moveTo>
                  <a:lnTo>
                    <a:pt x="221869" y="28575"/>
                  </a:lnTo>
                  <a:lnTo>
                    <a:pt x="221869" y="57150"/>
                  </a:lnTo>
                  <a:lnTo>
                    <a:pt x="264710" y="57150"/>
                  </a:lnTo>
                  <a:lnTo>
                    <a:pt x="293370" y="42799"/>
                  </a:lnTo>
                  <a:lnTo>
                    <a:pt x="264879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720839" y="4386072"/>
              <a:ext cx="458724" cy="25146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760844" y="4443222"/>
              <a:ext cx="293370" cy="85725"/>
            </a:xfrm>
            <a:custGeom>
              <a:avLst/>
              <a:gdLst/>
              <a:ahLst/>
              <a:cxnLst/>
              <a:rect l="l" t="t" r="r" b="b"/>
              <a:pathLst>
                <a:path w="293370" h="85725">
                  <a:moveTo>
                    <a:pt x="207645" y="0"/>
                  </a:moveTo>
                  <a:lnTo>
                    <a:pt x="207645" y="85725"/>
                  </a:lnTo>
                  <a:lnTo>
                    <a:pt x="264879" y="57150"/>
                  </a:lnTo>
                  <a:lnTo>
                    <a:pt x="221869" y="57150"/>
                  </a:lnTo>
                  <a:lnTo>
                    <a:pt x="221869" y="28575"/>
                  </a:lnTo>
                  <a:lnTo>
                    <a:pt x="264710" y="28575"/>
                  </a:lnTo>
                  <a:lnTo>
                    <a:pt x="207645" y="0"/>
                  </a:lnTo>
                  <a:close/>
                </a:path>
                <a:path w="293370" h="85725">
                  <a:moveTo>
                    <a:pt x="20764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7645" y="57150"/>
                  </a:lnTo>
                  <a:lnTo>
                    <a:pt x="207645" y="28575"/>
                  </a:lnTo>
                  <a:close/>
                </a:path>
                <a:path w="293370" h="85725">
                  <a:moveTo>
                    <a:pt x="264710" y="28575"/>
                  </a:moveTo>
                  <a:lnTo>
                    <a:pt x="221869" y="28575"/>
                  </a:lnTo>
                  <a:lnTo>
                    <a:pt x="221869" y="57150"/>
                  </a:lnTo>
                  <a:lnTo>
                    <a:pt x="264879" y="57150"/>
                  </a:lnTo>
                  <a:lnTo>
                    <a:pt x="293370" y="42925"/>
                  </a:lnTo>
                  <a:lnTo>
                    <a:pt x="264710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426707" y="3968496"/>
              <a:ext cx="373380" cy="108204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6465823" y="3997325"/>
              <a:ext cx="295275" cy="0"/>
            </a:xfrm>
            <a:custGeom>
              <a:avLst/>
              <a:gdLst/>
              <a:ahLst/>
              <a:cxnLst/>
              <a:rect l="l" t="t" r="r" b="b"/>
              <a:pathLst>
                <a:path w="295275">
                  <a:moveTo>
                    <a:pt x="0" y="0"/>
                  </a:moveTo>
                  <a:lnTo>
                    <a:pt x="295021" y="0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509515" y="5684520"/>
              <a:ext cx="1970531" cy="452628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757927" y="5681472"/>
              <a:ext cx="1511808" cy="452628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554600" y="5703570"/>
              <a:ext cx="1876552" cy="35874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4554600" y="5703570"/>
              <a:ext cx="1877060" cy="358775"/>
            </a:xfrm>
            <a:custGeom>
              <a:avLst/>
              <a:gdLst/>
              <a:ahLst/>
              <a:cxnLst/>
              <a:rect l="l" t="t" r="r" b="b"/>
              <a:pathLst>
                <a:path w="1877060" h="358775">
                  <a:moveTo>
                    <a:pt x="0" y="358749"/>
                  </a:moveTo>
                  <a:lnTo>
                    <a:pt x="1876552" y="358749"/>
                  </a:lnTo>
                  <a:lnTo>
                    <a:pt x="1876552" y="0"/>
                  </a:lnTo>
                  <a:lnTo>
                    <a:pt x="0" y="0"/>
                  </a:lnTo>
                  <a:lnTo>
                    <a:pt x="0" y="358749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4568888" y="5731865"/>
            <a:ext cx="18484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Update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Policies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6978395" y="4963667"/>
            <a:ext cx="1984375" cy="939165"/>
            <a:chOff x="6978395" y="4963667"/>
            <a:chExt cx="1984375" cy="939165"/>
          </a:xfrm>
        </p:grpSpPr>
        <p:pic>
          <p:nvPicPr>
            <p:cNvPr id="107" name="object 10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987539" y="4965191"/>
              <a:ext cx="1970531" cy="452627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246619" y="4963667"/>
              <a:ext cx="1447800" cy="664463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032497" y="4984775"/>
              <a:ext cx="1876552" cy="35874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7032497" y="4984775"/>
              <a:ext cx="1877060" cy="358775"/>
            </a:xfrm>
            <a:custGeom>
              <a:avLst/>
              <a:gdLst/>
              <a:ahLst/>
              <a:cxnLst/>
              <a:rect l="l" t="t" r="r" b="b"/>
              <a:pathLst>
                <a:path w="1877059" h="358775">
                  <a:moveTo>
                    <a:pt x="0" y="358749"/>
                  </a:moveTo>
                  <a:lnTo>
                    <a:pt x="1876552" y="358749"/>
                  </a:lnTo>
                  <a:lnTo>
                    <a:pt x="1876552" y="0"/>
                  </a:lnTo>
                  <a:lnTo>
                    <a:pt x="0" y="0"/>
                  </a:lnTo>
                  <a:lnTo>
                    <a:pt x="0" y="358749"/>
                  </a:lnTo>
                  <a:close/>
                </a:path>
              </a:pathLst>
            </a:custGeom>
            <a:ln w="28574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978395" y="5436107"/>
              <a:ext cx="1984248" cy="466344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399019" y="5442203"/>
              <a:ext cx="1187196" cy="452628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032497" y="5463959"/>
              <a:ext cx="1876552" cy="358749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7032497" y="5463959"/>
              <a:ext cx="1877060" cy="358775"/>
            </a:xfrm>
            <a:custGeom>
              <a:avLst/>
              <a:gdLst/>
              <a:ahLst/>
              <a:cxnLst/>
              <a:rect l="l" t="t" r="r" b="b"/>
              <a:pathLst>
                <a:path w="1877059" h="358775">
                  <a:moveTo>
                    <a:pt x="0" y="358749"/>
                  </a:moveTo>
                  <a:lnTo>
                    <a:pt x="1876552" y="358749"/>
                  </a:lnTo>
                  <a:lnTo>
                    <a:pt x="1876552" y="0"/>
                  </a:lnTo>
                  <a:lnTo>
                    <a:pt x="0" y="0"/>
                  </a:lnTo>
                  <a:lnTo>
                    <a:pt x="0" y="358749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7381493" y="4334383"/>
            <a:ext cx="118046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Random</a:t>
            </a:r>
            <a:endParaRPr sz="1400">
              <a:latin typeface="Times New Roman"/>
              <a:cs typeface="Times New Roman"/>
            </a:endParaRPr>
          </a:p>
          <a:p>
            <a:pPr marL="165100" marR="5080" indent="-152400">
              <a:lnSpc>
                <a:spcPct val="224600"/>
              </a:lnSpc>
              <a:spcBef>
                <a:spcPts val="1570"/>
              </a:spcBef>
            </a:pPr>
            <a:r>
              <a:rPr sz="1400" b="1" dirty="0">
                <a:latin typeface="Times New Roman"/>
                <a:cs typeface="Times New Roman"/>
              </a:rPr>
              <a:t>Write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Through </a:t>
            </a:r>
            <a:r>
              <a:rPr sz="1400" b="1" dirty="0">
                <a:latin typeface="Times New Roman"/>
                <a:cs typeface="Times New Roman"/>
              </a:rPr>
              <a:t>Write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back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6978395" y="5922264"/>
            <a:ext cx="1984375" cy="935990"/>
            <a:chOff x="6978395" y="5922264"/>
            <a:chExt cx="1984375" cy="935990"/>
          </a:xfrm>
        </p:grpSpPr>
        <p:pic>
          <p:nvPicPr>
            <p:cNvPr id="117" name="object 11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987539" y="5923817"/>
              <a:ext cx="1970531" cy="44952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304531" y="5922264"/>
              <a:ext cx="1376172" cy="452628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032497" y="5943841"/>
              <a:ext cx="1876552" cy="358749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7032497" y="5943841"/>
              <a:ext cx="1877060" cy="358775"/>
            </a:xfrm>
            <a:custGeom>
              <a:avLst/>
              <a:gdLst/>
              <a:ahLst/>
              <a:cxnLst/>
              <a:rect l="l" t="t" r="r" b="b"/>
              <a:pathLst>
                <a:path w="1877059" h="358775">
                  <a:moveTo>
                    <a:pt x="0" y="358749"/>
                  </a:moveTo>
                  <a:lnTo>
                    <a:pt x="1876552" y="358749"/>
                  </a:lnTo>
                  <a:lnTo>
                    <a:pt x="1876552" y="0"/>
                  </a:lnTo>
                  <a:lnTo>
                    <a:pt x="0" y="0"/>
                  </a:lnTo>
                  <a:lnTo>
                    <a:pt x="0" y="358749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978395" y="6394702"/>
              <a:ext cx="1984248" cy="463295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7287767" y="6400799"/>
              <a:ext cx="1409700" cy="452628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032497" y="6423049"/>
              <a:ext cx="1876552" cy="358749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7032497" y="6423049"/>
              <a:ext cx="1877060" cy="358775"/>
            </a:xfrm>
            <a:custGeom>
              <a:avLst/>
              <a:gdLst/>
              <a:ahLst/>
              <a:cxnLst/>
              <a:rect l="l" t="t" r="r" b="b"/>
              <a:pathLst>
                <a:path w="1877059" h="358775">
                  <a:moveTo>
                    <a:pt x="0" y="358749"/>
                  </a:moveTo>
                  <a:lnTo>
                    <a:pt x="1876552" y="358749"/>
                  </a:lnTo>
                  <a:lnTo>
                    <a:pt x="1876552" y="0"/>
                  </a:lnTo>
                  <a:lnTo>
                    <a:pt x="0" y="0"/>
                  </a:lnTo>
                  <a:lnTo>
                    <a:pt x="0" y="358749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7422642" y="5972047"/>
            <a:ext cx="1097280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Write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around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imes New Roman"/>
                <a:cs typeface="Times New Roman"/>
              </a:rPr>
              <a:t>Write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allocate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22859" y="573023"/>
            <a:ext cx="7135495" cy="6179820"/>
            <a:chOff x="22859" y="573023"/>
            <a:chExt cx="7135495" cy="6179820"/>
          </a:xfrm>
        </p:grpSpPr>
        <p:pic>
          <p:nvPicPr>
            <p:cNvPr id="127" name="object 127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687184" y="5158730"/>
              <a:ext cx="94678" cy="1479822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6732651" y="5164454"/>
              <a:ext cx="0" cy="1417955"/>
            </a:xfrm>
            <a:custGeom>
              <a:avLst/>
              <a:gdLst/>
              <a:ahLst/>
              <a:cxnLst/>
              <a:rect l="l" t="t" r="r" b="b"/>
              <a:pathLst>
                <a:path h="1417954">
                  <a:moveTo>
                    <a:pt x="0" y="0"/>
                  </a:moveTo>
                  <a:lnTo>
                    <a:pt x="0" y="1417675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693407" y="5064252"/>
              <a:ext cx="452627" cy="251460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6732651" y="5121528"/>
              <a:ext cx="287020" cy="85725"/>
            </a:xfrm>
            <a:custGeom>
              <a:avLst/>
              <a:gdLst/>
              <a:ahLst/>
              <a:cxnLst/>
              <a:rect l="l" t="t" r="r" b="b"/>
              <a:pathLst>
                <a:path w="287020" h="85725">
                  <a:moveTo>
                    <a:pt x="201295" y="0"/>
                  </a:moveTo>
                  <a:lnTo>
                    <a:pt x="201295" y="85725"/>
                  </a:lnTo>
                  <a:lnTo>
                    <a:pt x="258529" y="57150"/>
                  </a:lnTo>
                  <a:lnTo>
                    <a:pt x="215646" y="57150"/>
                  </a:lnTo>
                  <a:lnTo>
                    <a:pt x="215646" y="28575"/>
                  </a:lnTo>
                  <a:lnTo>
                    <a:pt x="258360" y="28575"/>
                  </a:lnTo>
                  <a:lnTo>
                    <a:pt x="201295" y="0"/>
                  </a:lnTo>
                  <a:close/>
                </a:path>
                <a:path w="287020" h="85725">
                  <a:moveTo>
                    <a:pt x="20129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1295" y="57150"/>
                  </a:lnTo>
                  <a:lnTo>
                    <a:pt x="201295" y="28575"/>
                  </a:lnTo>
                  <a:close/>
                </a:path>
                <a:path w="287020" h="85725">
                  <a:moveTo>
                    <a:pt x="258360" y="28575"/>
                  </a:moveTo>
                  <a:lnTo>
                    <a:pt x="215646" y="28575"/>
                  </a:lnTo>
                  <a:lnTo>
                    <a:pt x="215646" y="57150"/>
                  </a:lnTo>
                  <a:lnTo>
                    <a:pt x="258529" y="57150"/>
                  </a:lnTo>
                  <a:lnTo>
                    <a:pt x="287020" y="42926"/>
                  </a:lnTo>
                  <a:lnTo>
                    <a:pt x="258360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693407" y="5542788"/>
              <a:ext cx="452627" cy="251459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6732651" y="5600801"/>
              <a:ext cx="287020" cy="85725"/>
            </a:xfrm>
            <a:custGeom>
              <a:avLst/>
              <a:gdLst/>
              <a:ahLst/>
              <a:cxnLst/>
              <a:rect l="l" t="t" r="r" b="b"/>
              <a:pathLst>
                <a:path w="287020" h="85725">
                  <a:moveTo>
                    <a:pt x="201295" y="0"/>
                  </a:moveTo>
                  <a:lnTo>
                    <a:pt x="201295" y="85725"/>
                  </a:lnTo>
                  <a:lnTo>
                    <a:pt x="258445" y="57150"/>
                  </a:lnTo>
                  <a:lnTo>
                    <a:pt x="215646" y="57150"/>
                  </a:lnTo>
                  <a:lnTo>
                    <a:pt x="215646" y="28575"/>
                  </a:lnTo>
                  <a:lnTo>
                    <a:pt x="258445" y="28575"/>
                  </a:lnTo>
                  <a:lnTo>
                    <a:pt x="201295" y="0"/>
                  </a:lnTo>
                  <a:close/>
                </a:path>
                <a:path w="287020" h="85725">
                  <a:moveTo>
                    <a:pt x="20129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01295" y="57150"/>
                  </a:lnTo>
                  <a:lnTo>
                    <a:pt x="201295" y="28575"/>
                  </a:lnTo>
                  <a:close/>
                </a:path>
                <a:path w="287020" h="85725">
                  <a:moveTo>
                    <a:pt x="258445" y="28575"/>
                  </a:moveTo>
                  <a:lnTo>
                    <a:pt x="215646" y="28575"/>
                  </a:lnTo>
                  <a:lnTo>
                    <a:pt x="215646" y="57150"/>
                  </a:lnTo>
                  <a:lnTo>
                    <a:pt x="258445" y="57150"/>
                  </a:lnTo>
                  <a:lnTo>
                    <a:pt x="287020" y="42862"/>
                  </a:lnTo>
                  <a:lnTo>
                    <a:pt x="258445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693407" y="6031991"/>
              <a:ext cx="452627" cy="25146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6732651" y="6089332"/>
              <a:ext cx="287020" cy="85725"/>
            </a:xfrm>
            <a:custGeom>
              <a:avLst/>
              <a:gdLst/>
              <a:ahLst/>
              <a:cxnLst/>
              <a:rect l="l" t="t" r="r" b="b"/>
              <a:pathLst>
                <a:path w="287020" h="85725">
                  <a:moveTo>
                    <a:pt x="201295" y="0"/>
                  </a:moveTo>
                  <a:lnTo>
                    <a:pt x="201295" y="85724"/>
                  </a:lnTo>
                  <a:lnTo>
                    <a:pt x="258445" y="57149"/>
                  </a:lnTo>
                  <a:lnTo>
                    <a:pt x="215646" y="57149"/>
                  </a:lnTo>
                  <a:lnTo>
                    <a:pt x="215646" y="28574"/>
                  </a:lnTo>
                  <a:lnTo>
                    <a:pt x="258445" y="28574"/>
                  </a:lnTo>
                  <a:lnTo>
                    <a:pt x="201295" y="0"/>
                  </a:lnTo>
                  <a:close/>
                </a:path>
                <a:path w="287020" h="85725">
                  <a:moveTo>
                    <a:pt x="201295" y="28574"/>
                  </a:moveTo>
                  <a:lnTo>
                    <a:pt x="0" y="28574"/>
                  </a:lnTo>
                  <a:lnTo>
                    <a:pt x="0" y="57149"/>
                  </a:lnTo>
                  <a:lnTo>
                    <a:pt x="201295" y="57149"/>
                  </a:lnTo>
                  <a:lnTo>
                    <a:pt x="201295" y="28574"/>
                  </a:lnTo>
                  <a:close/>
                </a:path>
                <a:path w="287020" h="85725">
                  <a:moveTo>
                    <a:pt x="258445" y="28574"/>
                  </a:moveTo>
                  <a:lnTo>
                    <a:pt x="215646" y="28574"/>
                  </a:lnTo>
                  <a:lnTo>
                    <a:pt x="215646" y="57149"/>
                  </a:lnTo>
                  <a:lnTo>
                    <a:pt x="258445" y="57149"/>
                  </a:lnTo>
                  <a:lnTo>
                    <a:pt x="287020" y="42862"/>
                  </a:lnTo>
                  <a:lnTo>
                    <a:pt x="258445" y="28574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403848" y="5846064"/>
              <a:ext cx="368807" cy="106680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6443852" y="5873953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>
                  <a:moveTo>
                    <a:pt x="0" y="0"/>
                  </a:moveTo>
                  <a:lnTo>
                    <a:pt x="288798" y="0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704076" y="6501383"/>
              <a:ext cx="454151" cy="251459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6743827" y="6559232"/>
              <a:ext cx="288925" cy="85725"/>
            </a:xfrm>
            <a:custGeom>
              <a:avLst/>
              <a:gdLst/>
              <a:ahLst/>
              <a:cxnLst/>
              <a:rect l="l" t="t" r="r" b="b"/>
              <a:pathLst>
                <a:path w="288925" h="85725">
                  <a:moveTo>
                    <a:pt x="202946" y="0"/>
                  </a:moveTo>
                  <a:lnTo>
                    <a:pt x="202946" y="85724"/>
                  </a:lnTo>
                  <a:lnTo>
                    <a:pt x="260096" y="57149"/>
                  </a:lnTo>
                  <a:lnTo>
                    <a:pt x="217297" y="57149"/>
                  </a:lnTo>
                  <a:lnTo>
                    <a:pt x="217297" y="28574"/>
                  </a:lnTo>
                  <a:lnTo>
                    <a:pt x="260096" y="28574"/>
                  </a:lnTo>
                  <a:lnTo>
                    <a:pt x="202946" y="0"/>
                  </a:lnTo>
                  <a:close/>
                </a:path>
                <a:path w="288925" h="85725">
                  <a:moveTo>
                    <a:pt x="202946" y="28574"/>
                  </a:moveTo>
                  <a:lnTo>
                    <a:pt x="0" y="28574"/>
                  </a:lnTo>
                  <a:lnTo>
                    <a:pt x="0" y="57149"/>
                  </a:lnTo>
                  <a:lnTo>
                    <a:pt x="202946" y="57149"/>
                  </a:lnTo>
                  <a:lnTo>
                    <a:pt x="202946" y="28574"/>
                  </a:lnTo>
                  <a:close/>
                </a:path>
                <a:path w="288925" h="85725">
                  <a:moveTo>
                    <a:pt x="260096" y="28574"/>
                  </a:moveTo>
                  <a:lnTo>
                    <a:pt x="217297" y="28574"/>
                  </a:lnTo>
                  <a:lnTo>
                    <a:pt x="217297" y="57149"/>
                  </a:lnTo>
                  <a:lnTo>
                    <a:pt x="260096" y="57149"/>
                  </a:lnTo>
                  <a:lnTo>
                    <a:pt x="288671" y="42862"/>
                  </a:lnTo>
                  <a:lnTo>
                    <a:pt x="260096" y="28574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3765740" y="667514"/>
              <a:ext cx="94678" cy="5254746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3814825" y="673099"/>
              <a:ext cx="0" cy="5193030"/>
            </a:xfrm>
            <a:custGeom>
              <a:avLst/>
              <a:gdLst/>
              <a:ahLst/>
              <a:cxnLst/>
              <a:rect l="l" t="t" r="r" b="b"/>
              <a:pathLst>
                <a:path h="5193030">
                  <a:moveTo>
                    <a:pt x="0" y="0"/>
                  </a:moveTo>
                  <a:lnTo>
                    <a:pt x="0" y="5192712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774948" y="573023"/>
              <a:ext cx="905255" cy="251460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3814699" y="630300"/>
              <a:ext cx="739775" cy="85725"/>
            </a:xfrm>
            <a:custGeom>
              <a:avLst/>
              <a:gdLst/>
              <a:ahLst/>
              <a:cxnLst/>
              <a:rect l="l" t="t" r="r" b="b"/>
              <a:pathLst>
                <a:path w="739775" h="85725">
                  <a:moveTo>
                    <a:pt x="654050" y="0"/>
                  </a:moveTo>
                  <a:lnTo>
                    <a:pt x="654050" y="85725"/>
                  </a:lnTo>
                  <a:lnTo>
                    <a:pt x="711115" y="57150"/>
                  </a:lnTo>
                  <a:lnTo>
                    <a:pt x="668401" y="57150"/>
                  </a:lnTo>
                  <a:lnTo>
                    <a:pt x="668401" y="28575"/>
                  </a:lnTo>
                  <a:lnTo>
                    <a:pt x="711284" y="28575"/>
                  </a:lnTo>
                  <a:lnTo>
                    <a:pt x="654050" y="0"/>
                  </a:lnTo>
                  <a:close/>
                </a:path>
                <a:path w="739775" h="85725">
                  <a:moveTo>
                    <a:pt x="654050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654050" y="57150"/>
                  </a:lnTo>
                  <a:lnTo>
                    <a:pt x="654050" y="28575"/>
                  </a:lnTo>
                  <a:close/>
                </a:path>
                <a:path w="739775" h="85725">
                  <a:moveTo>
                    <a:pt x="711284" y="28575"/>
                  </a:moveTo>
                  <a:lnTo>
                    <a:pt x="668401" y="28575"/>
                  </a:lnTo>
                  <a:lnTo>
                    <a:pt x="668401" y="57150"/>
                  </a:lnTo>
                  <a:lnTo>
                    <a:pt x="711115" y="57150"/>
                  </a:lnTo>
                  <a:lnTo>
                    <a:pt x="739775" y="42799"/>
                  </a:lnTo>
                  <a:lnTo>
                    <a:pt x="711284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774948" y="2238756"/>
              <a:ext cx="905255" cy="252984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3814699" y="2297048"/>
              <a:ext cx="739775" cy="85725"/>
            </a:xfrm>
            <a:custGeom>
              <a:avLst/>
              <a:gdLst/>
              <a:ahLst/>
              <a:cxnLst/>
              <a:rect l="l" t="t" r="r" b="b"/>
              <a:pathLst>
                <a:path w="739775" h="85725">
                  <a:moveTo>
                    <a:pt x="654050" y="0"/>
                  </a:moveTo>
                  <a:lnTo>
                    <a:pt x="654050" y="85725"/>
                  </a:lnTo>
                  <a:lnTo>
                    <a:pt x="711284" y="57150"/>
                  </a:lnTo>
                  <a:lnTo>
                    <a:pt x="668401" y="57150"/>
                  </a:lnTo>
                  <a:lnTo>
                    <a:pt x="668401" y="28575"/>
                  </a:lnTo>
                  <a:lnTo>
                    <a:pt x="711115" y="28575"/>
                  </a:lnTo>
                  <a:lnTo>
                    <a:pt x="654050" y="0"/>
                  </a:lnTo>
                  <a:close/>
                </a:path>
                <a:path w="739775" h="85725">
                  <a:moveTo>
                    <a:pt x="654050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654050" y="57150"/>
                  </a:lnTo>
                  <a:lnTo>
                    <a:pt x="654050" y="28575"/>
                  </a:lnTo>
                  <a:close/>
                </a:path>
                <a:path w="739775" h="85725">
                  <a:moveTo>
                    <a:pt x="711115" y="28575"/>
                  </a:moveTo>
                  <a:lnTo>
                    <a:pt x="668401" y="28575"/>
                  </a:lnTo>
                  <a:lnTo>
                    <a:pt x="668401" y="57150"/>
                  </a:lnTo>
                  <a:lnTo>
                    <a:pt x="711284" y="57150"/>
                  </a:lnTo>
                  <a:lnTo>
                    <a:pt x="739775" y="42925"/>
                  </a:lnTo>
                  <a:lnTo>
                    <a:pt x="711115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774948" y="3927347"/>
              <a:ext cx="905255" cy="251460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3814699" y="3984625"/>
              <a:ext cx="739775" cy="85725"/>
            </a:xfrm>
            <a:custGeom>
              <a:avLst/>
              <a:gdLst/>
              <a:ahLst/>
              <a:cxnLst/>
              <a:rect l="l" t="t" r="r" b="b"/>
              <a:pathLst>
                <a:path w="739775" h="85725">
                  <a:moveTo>
                    <a:pt x="654050" y="0"/>
                  </a:moveTo>
                  <a:lnTo>
                    <a:pt x="654050" y="85725"/>
                  </a:lnTo>
                  <a:lnTo>
                    <a:pt x="711115" y="57150"/>
                  </a:lnTo>
                  <a:lnTo>
                    <a:pt x="668401" y="57150"/>
                  </a:lnTo>
                  <a:lnTo>
                    <a:pt x="668401" y="28575"/>
                  </a:lnTo>
                  <a:lnTo>
                    <a:pt x="711284" y="28575"/>
                  </a:lnTo>
                  <a:lnTo>
                    <a:pt x="654050" y="0"/>
                  </a:lnTo>
                  <a:close/>
                </a:path>
                <a:path w="739775" h="85725">
                  <a:moveTo>
                    <a:pt x="654050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654050" y="57150"/>
                  </a:lnTo>
                  <a:lnTo>
                    <a:pt x="654050" y="28575"/>
                  </a:lnTo>
                  <a:close/>
                </a:path>
                <a:path w="739775" h="85725">
                  <a:moveTo>
                    <a:pt x="711284" y="28575"/>
                  </a:moveTo>
                  <a:lnTo>
                    <a:pt x="668401" y="28575"/>
                  </a:lnTo>
                  <a:lnTo>
                    <a:pt x="668401" y="57150"/>
                  </a:lnTo>
                  <a:lnTo>
                    <a:pt x="711115" y="57150"/>
                  </a:lnTo>
                  <a:lnTo>
                    <a:pt x="739775" y="42799"/>
                  </a:lnTo>
                  <a:lnTo>
                    <a:pt x="711284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774948" y="5807964"/>
              <a:ext cx="905255" cy="251460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3814699" y="5865812"/>
              <a:ext cx="739775" cy="85725"/>
            </a:xfrm>
            <a:custGeom>
              <a:avLst/>
              <a:gdLst/>
              <a:ahLst/>
              <a:cxnLst/>
              <a:rect l="l" t="t" r="r" b="b"/>
              <a:pathLst>
                <a:path w="739775" h="85725">
                  <a:moveTo>
                    <a:pt x="654050" y="0"/>
                  </a:moveTo>
                  <a:lnTo>
                    <a:pt x="654050" y="85725"/>
                  </a:lnTo>
                  <a:lnTo>
                    <a:pt x="711200" y="57150"/>
                  </a:lnTo>
                  <a:lnTo>
                    <a:pt x="668401" y="57150"/>
                  </a:lnTo>
                  <a:lnTo>
                    <a:pt x="668401" y="28575"/>
                  </a:lnTo>
                  <a:lnTo>
                    <a:pt x="711200" y="28575"/>
                  </a:lnTo>
                  <a:lnTo>
                    <a:pt x="654050" y="0"/>
                  </a:lnTo>
                  <a:close/>
                </a:path>
                <a:path w="739775" h="85725">
                  <a:moveTo>
                    <a:pt x="654050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654050" y="57150"/>
                  </a:lnTo>
                  <a:lnTo>
                    <a:pt x="654050" y="28575"/>
                  </a:lnTo>
                  <a:close/>
                </a:path>
                <a:path w="739775" h="85725">
                  <a:moveTo>
                    <a:pt x="711200" y="28575"/>
                  </a:moveTo>
                  <a:lnTo>
                    <a:pt x="668401" y="28575"/>
                  </a:lnTo>
                  <a:lnTo>
                    <a:pt x="668401" y="57150"/>
                  </a:lnTo>
                  <a:lnTo>
                    <a:pt x="711200" y="57150"/>
                  </a:lnTo>
                  <a:lnTo>
                    <a:pt x="739775" y="42862"/>
                  </a:lnTo>
                  <a:lnTo>
                    <a:pt x="711200" y="28575"/>
                  </a:lnTo>
                  <a:close/>
                </a:path>
              </a:pathLst>
            </a:custGeom>
            <a:solidFill>
              <a:srgbClr val="79CA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2859" y="2857500"/>
              <a:ext cx="3435096" cy="624839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84632" y="2863595"/>
              <a:ext cx="2590800" cy="665988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6199" y="2886075"/>
              <a:ext cx="3327400" cy="517525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76199" y="2886075"/>
              <a:ext cx="3327400" cy="517525"/>
            </a:xfrm>
            <a:custGeom>
              <a:avLst/>
              <a:gdLst/>
              <a:ahLst/>
              <a:cxnLst/>
              <a:rect l="l" t="t" r="r" b="b"/>
              <a:pathLst>
                <a:path w="3327400" h="517525">
                  <a:moveTo>
                    <a:pt x="0" y="517525"/>
                  </a:moveTo>
                  <a:lnTo>
                    <a:pt x="3327400" y="517525"/>
                  </a:lnTo>
                  <a:lnTo>
                    <a:pt x="3327400" y="0"/>
                  </a:lnTo>
                  <a:lnTo>
                    <a:pt x="0" y="0"/>
                  </a:lnTo>
                  <a:lnTo>
                    <a:pt x="0" y="517525"/>
                  </a:lnTo>
                  <a:close/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90487" y="2913633"/>
            <a:ext cx="329882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20470" marR="535305" indent="-68008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Cache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Memory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Management Techniques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3363467" y="3119627"/>
            <a:ext cx="490855" cy="108585"/>
            <a:chOff x="3363467" y="3119627"/>
            <a:chExt cx="490855" cy="108585"/>
          </a:xfrm>
        </p:grpSpPr>
        <p:pic>
          <p:nvPicPr>
            <p:cNvPr id="155" name="object 15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363467" y="3119627"/>
              <a:ext cx="490727" cy="108203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3403599" y="3147948"/>
              <a:ext cx="411480" cy="635"/>
            </a:xfrm>
            <a:custGeom>
              <a:avLst/>
              <a:gdLst/>
              <a:ahLst/>
              <a:cxnLst/>
              <a:rect l="l" t="t" r="r" b="b"/>
              <a:pathLst>
                <a:path w="411479" h="635">
                  <a:moveTo>
                    <a:pt x="0" y="0"/>
                  </a:moveTo>
                  <a:lnTo>
                    <a:pt x="411225" y="126"/>
                  </a:lnTo>
                </a:path>
              </a:pathLst>
            </a:custGeom>
            <a:ln w="28575">
              <a:solidFill>
                <a:srgbClr val="79C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6256731"/>
            <a:ext cx="21393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0" dirty="0">
                <a:solidFill>
                  <a:srgbClr val="464646"/>
                </a:solidFill>
                <a:latin typeface="Times New Roman"/>
                <a:cs typeface="Times New Roman"/>
              </a:rPr>
              <a:t>V.Saritha@VIT</a:t>
            </a:r>
            <a:r>
              <a:rPr sz="1400" spc="20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400" spc="-75" dirty="0">
                <a:solidFill>
                  <a:srgbClr val="464646"/>
                </a:solidFill>
                <a:latin typeface="Times New Roman"/>
                <a:cs typeface="Times New Roman"/>
              </a:rPr>
              <a:t>University,</a:t>
            </a:r>
            <a:r>
              <a:rPr sz="1400" spc="-45" dirty="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sz="1400" spc="-105" dirty="0">
                <a:solidFill>
                  <a:srgbClr val="464646"/>
                </a:solidFill>
                <a:latin typeface="Times New Roman"/>
                <a:cs typeface="Times New Roman"/>
              </a:rPr>
              <a:t>SCSE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215595"/>
            <a:ext cx="18484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Example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990600"/>
            <a:ext cx="8077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9213-2217-EECC-8EFE-DD0130C0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D3787C-8C62-BE2A-11D7-21433767E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81" y="670719"/>
            <a:ext cx="7488237" cy="551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69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62B9-4308-B88F-F0E1-C980D5C7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F34B6AE-4D62-FCF9-E504-4900916064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3444" y="1171193"/>
            <a:ext cx="7987283" cy="451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64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CFB321E2-5FF0-040A-0F6B-AED4877B7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" y="1981200"/>
            <a:ext cx="8958263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A7573724-E98A-3A63-06AD-89B65A4D6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688975"/>
            <a:ext cx="6743700" cy="635000"/>
          </a:xfrm>
        </p:spPr>
        <p:txBody>
          <a:bodyPr/>
          <a:lstStyle/>
          <a:p>
            <a:r>
              <a:rPr lang="en-GB" altLang="en-US" sz="2400"/>
              <a:t>Direct Mapping from Cache to Main Memory</a:t>
            </a:r>
          </a:p>
        </p:txBody>
      </p:sp>
    </p:spTree>
    <p:extLst>
      <p:ext uri="{BB962C8B-B14F-4D97-AF65-F5344CB8AC3E}">
        <p14:creationId xmlns:p14="http://schemas.microsoft.com/office/powerpoint/2010/main" val="681570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E932-4BD6-BBE3-4567-69BCA4316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42B1EC74-C218-CC01-61DF-95D1B1FE7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8413"/>
            <a:ext cx="8137525" cy="524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4692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25729"/>
            <a:ext cx="2961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Direct</a:t>
            </a:r>
            <a:r>
              <a:rPr sz="3600" spc="-185" dirty="0"/>
              <a:t> </a:t>
            </a:r>
            <a:r>
              <a:rPr sz="3600" spc="-20" dirty="0"/>
              <a:t>Mapping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761746"/>
            <a:ext cx="7994650" cy="12420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409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00" dirty="0">
                <a:latin typeface="Times New Roman"/>
                <a:cs typeface="Times New Roman"/>
              </a:rPr>
              <a:t>N-</a:t>
            </a:r>
            <a:r>
              <a:rPr sz="2400" spc="-70" dirty="0">
                <a:latin typeface="Times New Roman"/>
                <a:cs typeface="Times New Roman"/>
              </a:rPr>
              <a:t>bit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CPU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memory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address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bits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index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field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(n-</a:t>
            </a:r>
            <a:r>
              <a:rPr sz="2400" spc="-105" dirty="0">
                <a:latin typeface="Times New Roman"/>
                <a:cs typeface="Times New Roman"/>
              </a:rPr>
              <a:t>k)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bits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tag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field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31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25" dirty="0">
                <a:latin typeface="Times New Roman"/>
                <a:cs typeface="Times New Roman"/>
              </a:rPr>
              <a:t>Index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bits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used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access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cache.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315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80" dirty="0">
                <a:latin typeface="Times New Roman"/>
                <a:cs typeface="Times New Roman"/>
              </a:rPr>
              <a:t>Each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word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cache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consists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word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its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associated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tag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261609"/>
            <a:ext cx="781812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5080" indent="-274320">
              <a:lnSpc>
                <a:spcPts val="2590"/>
              </a:lnSpc>
              <a:spcBef>
                <a:spcPts val="425"/>
              </a:spcBef>
            </a:pPr>
            <a:r>
              <a:rPr sz="2400" spc="-45" dirty="0">
                <a:latin typeface="Times New Roman"/>
                <a:cs typeface="Times New Roman"/>
              </a:rPr>
              <a:t>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memory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request,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index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field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used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70" dirty="0">
                <a:latin typeface="Times New Roman"/>
                <a:cs typeface="Times New Roman"/>
              </a:rPr>
              <a:t>access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cache.Tag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field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spc="-150" dirty="0">
                <a:latin typeface="Times New Roman"/>
                <a:cs typeface="Times New Roman"/>
              </a:rPr>
              <a:t>CPU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address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compared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with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tag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word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read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cache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1800" y="2979057"/>
            <a:ext cx="8483600" cy="1938655"/>
            <a:chOff x="361800" y="2979057"/>
            <a:chExt cx="8483600" cy="19386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800" y="2979057"/>
              <a:ext cx="3632498" cy="15737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5070" y="3055344"/>
              <a:ext cx="4609815" cy="18618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1940" y="1374922"/>
            <a:ext cx="7456170" cy="40493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800" spc="-170" dirty="0">
                <a:latin typeface="Times New Roman"/>
                <a:cs typeface="Times New Roman"/>
              </a:rPr>
              <a:t>CPU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generates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memory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request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with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(TAG;INDEX)</a:t>
            </a:r>
            <a:endParaRPr sz="2800">
              <a:latin typeface="Times New Roman"/>
              <a:cs typeface="Times New Roman"/>
            </a:endParaRPr>
          </a:p>
          <a:p>
            <a:pPr marL="753110" indent="-579120">
              <a:lnSpc>
                <a:spcPct val="100000"/>
              </a:lnSpc>
              <a:spcBef>
                <a:spcPts val="165"/>
              </a:spcBef>
              <a:buClr>
                <a:srgbClr val="DA1F28"/>
              </a:buClr>
              <a:buSzPct val="85416"/>
              <a:buFont typeface="Segoe UI Symbol"/>
              <a:buChar char="⚫"/>
              <a:tabLst>
                <a:tab pos="753110" algn="l"/>
              </a:tabLst>
            </a:pPr>
            <a:r>
              <a:rPr sz="2400" spc="-65" dirty="0">
                <a:latin typeface="Times New Roman"/>
                <a:cs typeface="Times New Roman"/>
              </a:rPr>
              <a:t>-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Access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Cache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5" dirty="0">
                <a:latin typeface="Times New Roman"/>
                <a:cs typeface="Times New Roman"/>
              </a:rPr>
              <a:t>using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10" dirty="0">
                <a:latin typeface="Times New Roman"/>
                <a:cs typeface="Times New Roman"/>
              </a:rPr>
              <a:t>INDEX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;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(tag;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2800" spc="-135" dirty="0">
                <a:latin typeface="Times New Roman"/>
                <a:cs typeface="Times New Roman"/>
              </a:rPr>
              <a:t>Compare</a:t>
            </a:r>
            <a:r>
              <a:rPr sz="2800" spc="-380" dirty="0">
                <a:latin typeface="Times New Roman"/>
                <a:cs typeface="Times New Roman"/>
              </a:rPr>
              <a:t> </a:t>
            </a:r>
            <a:r>
              <a:rPr sz="2800" spc="-370" dirty="0">
                <a:latin typeface="Times New Roman"/>
                <a:cs typeface="Times New Roman"/>
              </a:rPr>
              <a:t>TAG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tag</a:t>
            </a:r>
            <a:endParaRPr sz="2800">
              <a:latin typeface="Times New Roman"/>
              <a:cs typeface="Times New Roman"/>
            </a:endParaRPr>
          </a:p>
          <a:p>
            <a:pPr marL="675005" indent="-501015">
              <a:lnSpc>
                <a:spcPts val="2870"/>
              </a:lnSpc>
              <a:spcBef>
                <a:spcPts val="145"/>
              </a:spcBef>
              <a:buClr>
                <a:srgbClr val="DA1F28"/>
              </a:buClr>
              <a:buSzPct val="85416"/>
              <a:buFont typeface="Segoe UI Symbol"/>
              <a:buChar char="⚫"/>
              <a:tabLst>
                <a:tab pos="675005" algn="l"/>
              </a:tabLst>
            </a:pP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If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matches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-</a:t>
            </a:r>
            <a:r>
              <a:rPr sz="2400" spc="240" dirty="0">
                <a:latin typeface="Times New Roman"/>
                <a:cs typeface="Times New Roman"/>
              </a:rPr>
              <a:t>&gt;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Hit</a:t>
            </a:r>
            <a:endParaRPr sz="2400">
              <a:latin typeface="Times New Roman"/>
              <a:cs typeface="Times New Roman"/>
            </a:endParaRPr>
          </a:p>
          <a:p>
            <a:pPr marL="173990">
              <a:lnSpc>
                <a:spcPts val="3590"/>
              </a:lnSpc>
            </a:pPr>
            <a:r>
              <a:rPr sz="3000" spc="-160" dirty="0">
                <a:latin typeface="Times New Roman"/>
                <a:cs typeface="Times New Roman"/>
              </a:rPr>
              <a:t>Provide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90" dirty="0">
                <a:latin typeface="Times New Roman"/>
                <a:cs typeface="Times New Roman"/>
              </a:rPr>
              <a:t>Cache[INDEX](data)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CPU</a:t>
            </a:r>
            <a:endParaRPr sz="3000">
              <a:latin typeface="Times New Roman"/>
              <a:cs typeface="Times New Roman"/>
            </a:endParaRPr>
          </a:p>
          <a:p>
            <a:pPr marL="743585" indent="-569595">
              <a:lnSpc>
                <a:spcPct val="100000"/>
              </a:lnSpc>
              <a:spcBef>
                <a:spcPts val="185"/>
              </a:spcBef>
              <a:buClr>
                <a:srgbClr val="DA1F28"/>
              </a:buClr>
              <a:buSzPct val="85416"/>
              <a:buFont typeface="Segoe UI Symbol"/>
              <a:buChar char="⚫"/>
              <a:tabLst>
                <a:tab pos="743585" algn="l"/>
              </a:tabLst>
            </a:pPr>
            <a:r>
              <a:rPr sz="2400" spc="-19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not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match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-</a:t>
            </a:r>
            <a:r>
              <a:rPr sz="2400" spc="240" dirty="0">
                <a:latin typeface="Times New Roman"/>
                <a:cs typeface="Times New Roman"/>
              </a:rPr>
              <a:t>&gt;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Miss</a:t>
            </a:r>
            <a:endParaRPr sz="2400">
              <a:latin typeface="Times New Roman"/>
              <a:cs typeface="Times New Roman"/>
            </a:endParaRPr>
          </a:p>
          <a:p>
            <a:pPr marL="1682750">
              <a:lnSpc>
                <a:spcPct val="100000"/>
              </a:lnSpc>
              <a:spcBef>
                <a:spcPts val="445"/>
              </a:spcBef>
            </a:pPr>
            <a:r>
              <a:rPr sz="2600" spc="-60" dirty="0">
                <a:latin typeface="Times New Roman"/>
                <a:cs typeface="Times New Roman"/>
              </a:rPr>
              <a:t>-</a:t>
            </a:r>
            <a:r>
              <a:rPr sz="3000" spc="-135" dirty="0">
                <a:latin typeface="Times New Roman"/>
                <a:cs typeface="Times New Roman"/>
              </a:rPr>
              <a:t>word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90" dirty="0">
                <a:latin typeface="Times New Roman"/>
                <a:cs typeface="Times New Roman"/>
              </a:rPr>
              <a:t>is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30" dirty="0">
                <a:latin typeface="Times New Roman"/>
                <a:cs typeface="Times New Roman"/>
              </a:rPr>
              <a:t>read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45" dirty="0">
                <a:latin typeface="Times New Roman"/>
                <a:cs typeface="Times New Roman"/>
              </a:rPr>
              <a:t>from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0" dirty="0">
                <a:latin typeface="Times New Roman"/>
                <a:cs typeface="Times New Roman"/>
              </a:rPr>
              <a:t>the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memory</a:t>
            </a:r>
            <a:endParaRPr sz="3000">
              <a:latin typeface="Times New Roman"/>
              <a:cs typeface="Times New Roman"/>
            </a:endParaRPr>
          </a:p>
          <a:p>
            <a:pPr marL="128270" marR="5080" indent="66675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spc="-65" dirty="0">
                <a:latin typeface="Times New Roman"/>
                <a:cs typeface="Times New Roman"/>
              </a:rPr>
              <a:t>is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35" dirty="0">
                <a:latin typeface="Times New Roman"/>
                <a:cs typeface="Times New Roman"/>
              </a:rPr>
              <a:t>then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imes New Roman"/>
                <a:cs typeface="Times New Roman"/>
              </a:rPr>
              <a:t>stored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spc="-155" dirty="0">
                <a:latin typeface="Times New Roman"/>
                <a:cs typeface="Times New Roman"/>
              </a:rPr>
              <a:t>cache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75" dirty="0">
                <a:latin typeface="Times New Roman"/>
                <a:cs typeface="Times New Roman"/>
              </a:rPr>
              <a:t>together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imes New Roman"/>
                <a:cs typeface="Times New Roman"/>
              </a:rPr>
              <a:t>with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60" dirty="0">
                <a:latin typeface="Times New Roman"/>
                <a:cs typeface="Times New Roman"/>
              </a:rPr>
              <a:t>new </a:t>
            </a:r>
            <a:r>
              <a:rPr sz="3000" spc="-165" dirty="0">
                <a:latin typeface="Times New Roman"/>
                <a:cs typeface="Times New Roman"/>
              </a:rPr>
              <a:t>tag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65" dirty="0">
                <a:latin typeface="Times New Roman"/>
                <a:cs typeface="Times New Roman"/>
              </a:rPr>
              <a:t>replacing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105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60" dirty="0">
                <a:latin typeface="Times New Roman"/>
                <a:cs typeface="Times New Roman"/>
              </a:rPr>
              <a:t>previous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value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2437002"/>
            <a:ext cx="7567295" cy="1808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480" marR="454659" indent="-272415">
              <a:lnSpc>
                <a:spcPct val="100000"/>
              </a:lnSpc>
              <a:spcBef>
                <a:spcPts val="95"/>
              </a:spcBef>
              <a:buClr>
                <a:srgbClr val="2CA1BE"/>
              </a:buClr>
              <a:buSzPct val="83928"/>
              <a:buFont typeface="Segoe UI Symbol"/>
              <a:buChar char="⚫"/>
              <a:tabLst>
                <a:tab pos="286385" algn="l"/>
              </a:tabLst>
            </a:pPr>
            <a:r>
              <a:rPr sz="2800" spc="-140" dirty="0">
                <a:latin typeface="Times New Roman"/>
                <a:cs typeface="Times New Roman"/>
              </a:rPr>
              <a:t>When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memory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95" dirty="0">
                <a:latin typeface="Times New Roman"/>
                <a:cs typeface="Times New Roman"/>
              </a:rPr>
              <a:t>is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divided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into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blocks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of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words,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spc="-65" dirty="0">
                <a:latin typeface="Times New Roman"/>
                <a:cs typeface="Times New Roman"/>
              </a:rPr>
              <a:t>index 	</a:t>
            </a:r>
            <a:r>
              <a:rPr sz="2800" spc="-150" dirty="0">
                <a:latin typeface="Times New Roman"/>
                <a:cs typeface="Times New Roman"/>
              </a:rPr>
              <a:t>field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block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field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word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field</a:t>
            </a:r>
            <a:endParaRPr sz="28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928"/>
              <a:buFont typeface="Segoe UI Symbol"/>
              <a:buChar char="⚫"/>
              <a:tabLst>
                <a:tab pos="286385" algn="l"/>
              </a:tabLst>
            </a:pPr>
            <a:r>
              <a:rPr sz="2800" spc="-135" dirty="0">
                <a:latin typeface="Times New Roman"/>
                <a:cs typeface="Times New Roman"/>
              </a:rPr>
              <a:t>Ex: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512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words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cache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64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blocks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8words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each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block 	</a:t>
            </a:r>
            <a:r>
              <a:rPr sz="2800" spc="-150" dirty="0">
                <a:latin typeface="Times New Roman"/>
                <a:cs typeface="Times New Roman"/>
              </a:rPr>
              <a:t>field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(6bits)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7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words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field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(3bits)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37769"/>
            <a:ext cx="402907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265" dirty="0">
                <a:latin typeface="Times New Roman"/>
                <a:cs typeface="Times New Roman"/>
              </a:rPr>
              <a:t>Tags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within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block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are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same.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3801236"/>
            <a:ext cx="7231380" cy="156908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5115" marR="5080" indent="-273050">
              <a:lnSpc>
                <a:spcPts val="2810"/>
              </a:lnSpc>
              <a:spcBef>
                <a:spcPts val="45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14" dirty="0">
                <a:latin typeface="Times New Roman"/>
                <a:cs typeface="Times New Roman"/>
              </a:rPr>
              <a:t>When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miss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occurs,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entire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block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transferred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from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main 	</a:t>
            </a:r>
            <a:r>
              <a:rPr sz="2600" spc="-130" dirty="0">
                <a:latin typeface="Times New Roman"/>
                <a:cs typeface="Times New Roman"/>
              </a:rPr>
              <a:t>memory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cache.</a:t>
            </a:r>
            <a:endParaRPr sz="2600">
              <a:latin typeface="Times New Roman"/>
              <a:cs typeface="Times New Roman"/>
            </a:endParaRPr>
          </a:p>
          <a:p>
            <a:pPr marL="285115" marR="119380" indent="-273050">
              <a:lnSpc>
                <a:spcPts val="2810"/>
              </a:lnSpc>
              <a:spcBef>
                <a:spcPts val="600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65" dirty="0">
                <a:latin typeface="Times New Roman"/>
                <a:cs typeface="Times New Roman"/>
              </a:rPr>
              <a:t>It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time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consuming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but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improves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hit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ratio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Times New Roman"/>
                <a:cs typeface="Times New Roman"/>
              </a:rPr>
              <a:t>because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	</a:t>
            </a:r>
            <a:r>
              <a:rPr sz="2600" spc="-130" dirty="0">
                <a:latin typeface="Times New Roman"/>
                <a:cs typeface="Times New Roman"/>
              </a:rPr>
              <a:t>sequential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nature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programs.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543" y="1054749"/>
            <a:ext cx="6465868" cy="21988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Direct</a:t>
            </a:r>
            <a:r>
              <a:rPr spc="-175" dirty="0"/>
              <a:t> </a:t>
            </a:r>
            <a:r>
              <a:rPr spc="-20" dirty="0"/>
              <a:t>Mapping</a:t>
            </a:r>
            <a:r>
              <a:rPr spc="-180" dirty="0"/>
              <a:t> </a:t>
            </a:r>
            <a:r>
              <a:rPr dirty="0"/>
              <a:t>pros</a:t>
            </a:r>
            <a:r>
              <a:rPr spc="-185" dirty="0"/>
              <a:t> </a:t>
            </a:r>
            <a:r>
              <a:rPr dirty="0"/>
              <a:t>&amp;</a:t>
            </a:r>
            <a:r>
              <a:rPr spc="-190" dirty="0"/>
              <a:t> </a:t>
            </a:r>
            <a:r>
              <a:rPr spc="-20" dirty="0"/>
              <a:t>cons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53962"/>
            <a:ext cx="7141209" cy="2440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700"/>
              </a:spcBef>
              <a:buClr>
                <a:srgbClr val="2CA1BE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20" dirty="0">
                <a:latin typeface="Times New Roman"/>
                <a:cs typeface="Times New Roman"/>
              </a:rPr>
              <a:t>Simple</a:t>
            </a:r>
            <a:endParaRPr sz="28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928"/>
              <a:buFont typeface="Segoe UI Symbol"/>
              <a:buChar char="⚫"/>
              <a:tabLst>
                <a:tab pos="285750" algn="l"/>
              </a:tabLst>
            </a:pPr>
            <a:r>
              <a:rPr sz="2800" spc="-70" dirty="0">
                <a:latin typeface="Times New Roman"/>
                <a:cs typeface="Times New Roman"/>
              </a:rPr>
              <a:t>Inexpensive</a:t>
            </a:r>
            <a:endParaRPr sz="2800">
              <a:latin typeface="Times New Roman"/>
              <a:cs typeface="Times New Roman"/>
            </a:endParaRPr>
          </a:p>
          <a:p>
            <a:pPr marL="285115" indent="-272415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3928"/>
              <a:buFont typeface="Segoe UI Symbol"/>
              <a:buChar char="⚫"/>
              <a:tabLst>
                <a:tab pos="285115" algn="l"/>
              </a:tabLst>
            </a:pPr>
            <a:r>
              <a:rPr sz="2800" spc="-175" dirty="0">
                <a:latin typeface="Times New Roman"/>
                <a:cs typeface="Times New Roman"/>
              </a:rPr>
              <a:t>Fixed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location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given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block</a:t>
            </a:r>
            <a:endParaRPr sz="2800">
              <a:latin typeface="Times New Roman"/>
              <a:cs typeface="Times New Roman"/>
            </a:endParaRPr>
          </a:p>
          <a:p>
            <a:pPr marL="558800" marR="5080" lvl="1" indent="-263525">
              <a:lnSpc>
                <a:spcPct val="100000"/>
              </a:lnSpc>
              <a:spcBef>
                <a:spcPts val="409"/>
              </a:spcBef>
              <a:buClr>
                <a:srgbClr val="DA1F28"/>
              </a:buClr>
              <a:buSzPct val="83928"/>
              <a:buFont typeface="Segoe UI Symbol"/>
              <a:buChar char="⚫"/>
              <a:tabLst>
                <a:tab pos="560705" algn="l"/>
              </a:tabLst>
            </a:pPr>
            <a:r>
              <a:rPr sz="2800" spc="-225" dirty="0">
                <a:latin typeface="Times New Roman"/>
                <a:cs typeface="Times New Roman"/>
              </a:rPr>
              <a:t>If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29" dirty="0">
                <a:latin typeface="Times New Roman"/>
                <a:cs typeface="Times New Roman"/>
              </a:rPr>
              <a:t>a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program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accesses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2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blocks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that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map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70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same 	</a:t>
            </a:r>
            <a:r>
              <a:rPr sz="2800" spc="-120" dirty="0">
                <a:latin typeface="Times New Roman"/>
                <a:cs typeface="Times New Roman"/>
              </a:rPr>
              <a:t>line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repeatedly,</a:t>
            </a:r>
            <a:r>
              <a:rPr sz="2800" spc="-17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cache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misses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are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60" dirty="0">
                <a:latin typeface="Times New Roman"/>
                <a:cs typeface="Times New Roman"/>
              </a:rPr>
              <a:t>very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high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71703"/>
            <a:ext cx="3966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" dirty="0"/>
              <a:t>Associative</a:t>
            </a:r>
            <a:r>
              <a:rPr sz="3600" spc="-145" dirty="0"/>
              <a:t> </a:t>
            </a:r>
            <a:r>
              <a:rPr sz="3600" spc="-10" dirty="0"/>
              <a:t>Mapping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820039"/>
            <a:ext cx="7415530" cy="282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05" dirty="0">
                <a:latin typeface="Times New Roman"/>
                <a:cs typeface="Times New Roman"/>
              </a:rPr>
              <a:t>Fastest,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most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flexible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but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very</a:t>
            </a:r>
            <a:r>
              <a:rPr sz="2400" spc="-10" dirty="0">
                <a:latin typeface="Times New Roman"/>
                <a:cs typeface="Times New Roman"/>
              </a:rPr>
              <a:t> expensive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235" dirty="0">
                <a:latin typeface="Times New Roman"/>
                <a:cs typeface="Times New Roman"/>
              </a:rPr>
              <a:t>Any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block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location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cache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can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store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any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block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25" dirty="0">
                <a:latin typeface="Times New Roman"/>
                <a:cs typeface="Times New Roman"/>
              </a:rPr>
              <a:t>Stores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both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address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content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memory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word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ts val="2590"/>
              </a:lnSpc>
              <a:spcBef>
                <a:spcPts val="25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50" dirty="0">
                <a:latin typeface="Times New Roman"/>
                <a:cs typeface="Times New Roman"/>
              </a:rPr>
              <a:t>CPU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address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15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bits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placed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argument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85" dirty="0">
                <a:latin typeface="Times New Roman"/>
                <a:cs typeface="Times New Roman"/>
              </a:rPr>
              <a:t>register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590"/>
              </a:lnSpc>
            </a:pPr>
            <a:r>
              <a:rPr sz="2400" spc="-155" dirty="0">
                <a:latin typeface="Times New Roman"/>
                <a:cs typeface="Times New Roman"/>
              </a:rPr>
              <a:t>associative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memory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20" dirty="0">
                <a:latin typeface="Times New Roman"/>
                <a:cs typeface="Times New Roman"/>
              </a:rPr>
              <a:t>searched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9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matching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address</a:t>
            </a:r>
            <a:endParaRPr sz="2400">
              <a:latin typeface="Times New Roman"/>
              <a:cs typeface="Times New Roman"/>
            </a:endParaRPr>
          </a:p>
          <a:p>
            <a:pPr marL="286385" marR="335280" indent="-274320">
              <a:lnSpc>
                <a:spcPct val="8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90" dirty="0">
                <a:latin typeface="Times New Roman"/>
                <a:cs typeface="Times New Roman"/>
              </a:rPr>
              <a:t>If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found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data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5" dirty="0">
                <a:latin typeface="Times New Roman"/>
                <a:cs typeface="Times New Roman"/>
              </a:rPr>
              <a:t>read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45" dirty="0">
                <a:latin typeface="Times New Roman"/>
                <a:cs typeface="Times New Roman"/>
              </a:rPr>
              <a:t>and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sent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CPU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25" dirty="0">
                <a:latin typeface="Times New Roman"/>
                <a:cs typeface="Times New Roman"/>
              </a:rPr>
              <a:t>else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main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memory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spc="-10" dirty="0">
                <a:latin typeface="Times New Roman"/>
                <a:cs typeface="Times New Roman"/>
              </a:rPr>
              <a:t>accessed.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3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260" dirty="0">
                <a:latin typeface="Times New Roman"/>
                <a:cs typeface="Times New Roman"/>
              </a:rPr>
              <a:t>CAM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content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addressable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2374" y="4047592"/>
            <a:ext cx="4425917" cy="25557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5242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Set-</a:t>
            </a:r>
            <a:r>
              <a:rPr spc="-45" dirty="0"/>
              <a:t>Associative</a:t>
            </a:r>
            <a:r>
              <a:rPr spc="-120" dirty="0"/>
              <a:t> </a:t>
            </a:r>
            <a:r>
              <a:rPr spc="-10" dirty="0"/>
              <a:t>Mapping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1430"/>
            <a:ext cx="800671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95" dirty="0">
                <a:latin typeface="Times New Roman"/>
                <a:cs typeface="Times New Roman"/>
              </a:rPr>
              <a:t>Each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word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cache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can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store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2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more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words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memory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under 	</a:t>
            </a:r>
            <a:r>
              <a:rPr sz="2600" spc="-7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same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index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address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12945"/>
            <a:ext cx="7950200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</a:pPr>
            <a:r>
              <a:rPr sz="2600" spc="-140" dirty="0">
                <a:latin typeface="Times New Roman"/>
                <a:cs typeface="Times New Roman"/>
              </a:rPr>
              <a:t>The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comparison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logic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done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by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associative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search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tags</a:t>
            </a:r>
            <a:r>
              <a:rPr sz="2600" spc="-25" dirty="0">
                <a:latin typeface="Times New Roman"/>
                <a:cs typeface="Times New Roman"/>
              </a:rPr>
              <a:t> in </a:t>
            </a:r>
            <a:r>
              <a:rPr sz="2600" spc="-70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set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similar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associative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memory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search,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thus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name </a:t>
            </a:r>
            <a:r>
              <a:rPr sz="2600" spc="-170" dirty="0">
                <a:latin typeface="Times New Roman"/>
                <a:cs typeface="Times New Roman"/>
              </a:rPr>
              <a:t>“Set-</a:t>
            </a:r>
            <a:r>
              <a:rPr sz="2600" spc="-105" dirty="0">
                <a:latin typeface="Times New Roman"/>
                <a:cs typeface="Times New Roman"/>
              </a:rPr>
              <a:t>Associative”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664" y="2894134"/>
            <a:ext cx="6437277" cy="14697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2379091"/>
            <a:ext cx="7535545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70" dirty="0">
                <a:latin typeface="Times New Roman"/>
                <a:cs typeface="Times New Roman"/>
              </a:rPr>
              <a:t>Hit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ratio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increases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70" dirty="0">
                <a:latin typeface="Times New Roman"/>
                <a:cs typeface="Times New Roman"/>
              </a:rPr>
              <a:t>size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increases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but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more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complex 	</a:t>
            </a:r>
            <a:r>
              <a:rPr sz="2600" spc="-135" dirty="0">
                <a:latin typeface="Times New Roman"/>
                <a:cs typeface="Times New Roman"/>
              </a:rPr>
              <a:t>comparison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logic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required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when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number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bits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words 	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cache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increases</a:t>
            </a:r>
            <a:endParaRPr sz="2600">
              <a:latin typeface="Times New Roman"/>
              <a:cs typeface="Times New Roman"/>
            </a:endParaRPr>
          </a:p>
          <a:p>
            <a:pPr marL="285115" marR="148590" indent="-27305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14" dirty="0">
                <a:latin typeface="Times New Roman"/>
                <a:cs typeface="Times New Roman"/>
              </a:rPr>
              <a:t>When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Times New Roman"/>
                <a:cs typeface="Times New Roman"/>
              </a:rPr>
              <a:t>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Times New Roman"/>
                <a:cs typeface="Times New Roman"/>
              </a:rPr>
              <a:t>miss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occurs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and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set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full,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one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of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tag-</a:t>
            </a:r>
            <a:r>
              <a:rPr sz="2600" spc="-140" dirty="0">
                <a:latin typeface="Times New Roman"/>
                <a:cs typeface="Times New Roman"/>
              </a:rPr>
              <a:t>data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items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are 	</a:t>
            </a:r>
            <a:r>
              <a:rPr sz="2600" spc="-120" dirty="0">
                <a:latin typeface="Times New Roman"/>
                <a:cs typeface="Times New Roman"/>
              </a:rPr>
              <a:t>replaced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using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block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replacement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policy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0781"/>
            <a:ext cx="6998334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95"/>
              </a:spcBef>
              <a:buClr>
                <a:srgbClr val="2CA1BE"/>
              </a:buClr>
              <a:buSzPct val="83928"/>
              <a:buFont typeface="Segoe UI Symbol"/>
              <a:buChar char="⚫"/>
              <a:tabLst>
                <a:tab pos="286385" algn="l"/>
              </a:tabLst>
            </a:pPr>
            <a:r>
              <a:rPr sz="2800" spc="-365" dirty="0">
                <a:latin typeface="Times New Roman"/>
                <a:cs typeface="Times New Roman"/>
              </a:rPr>
              <a:t>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set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associative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65" dirty="0">
                <a:latin typeface="Times New Roman"/>
                <a:cs typeface="Times New Roman"/>
              </a:rPr>
              <a:t>cache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imes New Roman"/>
                <a:cs typeface="Times New Roman"/>
              </a:rPr>
              <a:t>consists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64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lines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slots, 	</a:t>
            </a:r>
            <a:r>
              <a:rPr sz="2800" spc="-155" dirty="0">
                <a:latin typeface="Times New Roman"/>
                <a:cs typeface="Times New Roman"/>
              </a:rPr>
              <a:t>divided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into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10" dirty="0">
                <a:latin typeface="Times New Roman"/>
                <a:cs typeface="Times New Roman"/>
              </a:rPr>
              <a:t>four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line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0" dirty="0">
                <a:latin typeface="Times New Roman"/>
                <a:cs typeface="Times New Roman"/>
              </a:rPr>
              <a:t>sets.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spc="-215" dirty="0">
                <a:latin typeface="Times New Roman"/>
                <a:cs typeface="Times New Roman"/>
              </a:rPr>
              <a:t>Main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5" dirty="0">
                <a:latin typeface="Times New Roman"/>
                <a:cs typeface="Times New Roman"/>
              </a:rPr>
              <a:t>memory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50" dirty="0">
                <a:latin typeface="Times New Roman"/>
                <a:cs typeface="Times New Roman"/>
              </a:rPr>
              <a:t>consists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4k 	</a:t>
            </a:r>
            <a:r>
              <a:rPr sz="2800" spc="-165" dirty="0">
                <a:latin typeface="Times New Roman"/>
                <a:cs typeface="Times New Roman"/>
              </a:rPr>
              <a:t>blocks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of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128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words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each.</a:t>
            </a:r>
            <a:r>
              <a:rPr sz="2800" spc="-180" dirty="0">
                <a:latin typeface="Times New Roman"/>
                <a:cs typeface="Times New Roman"/>
              </a:rPr>
              <a:t> </a:t>
            </a:r>
            <a:r>
              <a:rPr sz="2800" spc="-245" dirty="0">
                <a:latin typeface="Times New Roman"/>
                <a:cs typeface="Times New Roman"/>
              </a:rPr>
              <a:t>Show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8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format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main 	</a:t>
            </a:r>
            <a:r>
              <a:rPr sz="2800" spc="-135" dirty="0">
                <a:latin typeface="Times New Roman"/>
                <a:cs typeface="Times New Roman"/>
              </a:rPr>
              <a:t>memory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35" dirty="0">
                <a:latin typeface="Times New Roman"/>
                <a:cs typeface="Times New Roman"/>
              </a:rPr>
              <a:t>addresses.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3741313"/>
            <a:ext cx="8713033" cy="28044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Performance</a:t>
            </a:r>
            <a:r>
              <a:rPr spc="-17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2379091"/>
            <a:ext cx="761682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10" dirty="0">
                <a:latin typeface="Times New Roman"/>
                <a:cs typeface="Times New Roman"/>
              </a:rPr>
              <a:t>Look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through: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cache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checked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first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hit,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a 	</a:t>
            </a:r>
            <a:r>
              <a:rPr sz="2600" spc="-185" dirty="0">
                <a:latin typeface="Times New Roman"/>
                <a:cs typeface="Times New Roman"/>
              </a:rPr>
              <a:t>miss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occurs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then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65" dirty="0">
                <a:latin typeface="Times New Roman"/>
                <a:cs typeface="Times New Roman"/>
              </a:rPr>
              <a:t>the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access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65" dirty="0">
                <a:latin typeface="Times New Roman"/>
                <a:cs typeface="Times New Roman"/>
              </a:rPr>
              <a:t>main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memory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75" dirty="0">
                <a:latin typeface="Times New Roman"/>
                <a:cs typeface="Times New Roman"/>
              </a:rPr>
              <a:t>is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started.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  <a:buClr>
                <a:srgbClr val="2CA1BE"/>
              </a:buClr>
              <a:buFont typeface="Segoe UI Symbol"/>
              <a:buChar char="⚫"/>
            </a:pPr>
            <a:endParaRPr sz="26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85" dirty="0">
                <a:latin typeface="Times New Roman"/>
                <a:cs typeface="Times New Roman"/>
              </a:rPr>
              <a:t>Look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aside: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access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main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imes New Roman"/>
                <a:cs typeface="Times New Roman"/>
              </a:rPr>
              <a:t>memory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in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parallel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with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cache 	</a:t>
            </a:r>
            <a:r>
              <a:rPr sz="2600" spc="-10" dirty="0">
                <a:latin typeface="Times New Roman"/>
                <a:cs typeface="Times New Roman"/>
              </a:rPr>
              <a:t>lookup;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387477"/>
            <a:ext cx="7475220" cy="5634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2800" b="1" spc="-55" dirty="0">
                <a:latin typeface="Times New Roman"/>
                <a:cs typeface="Times New Roman"/>
              </a:rPr>
              <a:t>Look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through</a:t>
            </a:r>
            <a:endParaRPr sz="2800">
              <a:latin typeface="Times New Roman"/>
              <a:cs typeface="Times New Roman"/>
            </a:endParaRPr>
          </a:p>
          <a:p>
            <a:pPr marL="979169">
              <a:lnSpc>
                <a:spcPct val="100000"/>
              </a:lnSpc>
              <a:spcBef>
                <a:spcPts val="65"/>
              </a:spcBef>
            </a:pPr>
            <a:r>
              <a:rPr sz="2400" b="1" spc="-295" dirty="0">
                <a:latin typeface="Times New Roman"/>
                <a:cs typeface="Times New Roman"/>
              </a:rPr>
              <a:t>TA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229" dirty="0">
                <a:latin typeface="Times New Roman"/>
                <a:cs typeface="Times New Roman"/>
              </a:rPr>
              <a:t>=</a:t>
            </a:r>
            <a:r>
              <a:rPr sz="2400" b="1" spc="-350" dirty="0">
                <a:latin typeface="Times New Roman"/>
                <a:cs typeface="Times New Roman"/>
              </a:rPr>
              <a:t> </a:t>
            </a:r>
            <a:r>
              <a:rPr sz="2400" b="1" spc="-270" dirty="0">
                <a:latin typeface="Times New Roman"/>
                <a:cs typeface="Times New Roman"/>
              </a:rPr>
              <a:t>TC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229" dirty="0">
                <a:latin typeface="Times New Roman"/>
                <a:cs typeface="Times New Roman"/>
              </a:rPr>
              <a:t>+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(1-</a:t>
            </a:r>
            <a:r>
              <a:rPr sz="2400" b="1" spc="-10" dirty="0">
                <a:latin typeface="Times New Roman"/>
                <a:cs typeface="Times New Roman"/>
              </a:rPr>
              <a:t>h)*TM</a:t>
            </a:r>
            <a:endParaRPr sz="24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</a:pPr>
            <a:r>
              <a:rPr sz="2400" b="1" spc="-270" dirty="0">
                <a:latin typeface="Times New Roman"/>
                <a:cs typeface="Times New Roman"/>
              </a:rPr>
              <a:t>TC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average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cache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 marL="1841500" marR="5080">
              <a:lnSpc>
                <a:spcPct val="100000"/>
              </a:lnSpc>
            </a:pPr>
            <a:r>
              <a:rPr sz="2400" b="1" spc="-180" dirty="0">
                <a:latin typeface="Times New Roman"/>
                <a:cs typeface="Times New Roman"/>
              </a:rPr>
              <a:t>TM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average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main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memory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time </a:t>
            </a:r>
            <a:r>
              <a:rPr sz="2400" b="1" spc="-295" dirty="0">
                <a:latin typeface="Times New Roman"/>
                <a:cs typeface="Times New Roman"/>
              </a:rPr>
              <a:t>TA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40" dirty="0">
                <a:latin typeface="Times New Roman"/>
                <a:cs typeface="Times New Roman"/>
              </a:rPr>
              <a:t>average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access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Times New Roman"/>
              <a:buChar char="•"/>
              <a:tabLst>
                <a:tab pos="469265" algn="l"/>
              </a:tabLst>
            </a:pPr>
            <a:r>
              <a:rPr sz="2800" b="1" spc="-55" dirty="0">
                <a:latin typeface="Times New Roman"/>
                <a:cs typeface="Times New Roman"/>
              </a:rPr>
              <a:t>Look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aside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5"/>
              </a:spcBef>
            </a:pPr>
            <a:r>
              <a:rPr sz="2400" b="1" spc="-295" dirty="0">
                <a:latin typeface="Times New Roman"/>
                <a:cs typeface="Times New Roman"/>
              </a:rPr>
              <a:t>TA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229" dirty="0">
                <a:latin typeface="Times New Roman"/>
                <a:cs typeface="Times New Roman"/>
              </a:rPr>
              <a:t>=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45" dirty="0">
                <a:latin typeface="Times New Roman"/>
                <a:cs typeface="Times New Roman"/>
              </a:rPr>
              <a:t>h*TC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229" dirty="0">
                <a:latin typeface="Times New Roman"/>
                <a:cs typeface="Times New Roman"/>
              </a:rPr>
              <a:t>+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(1-</a:t>
            </a:r>
            <a:r>
              <a:rPr sz="2400" b="1" spc="-10" dirty="0">
                <a:latin typeface="Times New Roman"/>
                <a:cs typeface="Times New Roman"/>
              </a:rPr>
              <a:t>h)*TM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400">
              <a:latin typeface="Times New Roman"/>
              <a:cs typeface="Times New Roman"/>
            </a:endParaRPr>
          </a:p>
          <a:p>
            <a:pPr marL="2237740">
              <a:lnSpc>
                <a:spcPct val="100000"/>
              </a:lnSpc>
            </a:pPr>
            <a:r>
              <a:rPr sz="2800" spc="-125" dirty="0">
                <a:latin typeface="Times New Roman"/>
                <a:cs typeface="Times New Roman"/>
              </a:rPr>
              <a:t>number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references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45" dirty="0">
                <a:latin typeface="Times New Roman"/>
                <a:cs typeface="Times New Roman"/>
              </a:rPr>
              <a:t>found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85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cache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spc="-100" dirty="0">
                <a:latin typeface="Times New Roman"/>
                <a:cs typeface="Times New Roman"/>
              </a:rPr>
              <a:t>hit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95" dirty="0">
                <a:latin typeface="Times New Roman"/>
                <a:cs typeface="Times New Roman"/>
              </a:rPr>
              <a:t>ratio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90" dirty="0">
                <a:latin typeface="Times New Roman"/>
                <a:cs typeface="Times New Roman"/>
              </a:rPr>
              <a:t>h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229" dirty="0"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  <a:p>
            <a:pPr marL="2237740">
              <a:lnSpc>
                <a:spcPct val="100000"/>
              </a:lnSpc>
            </a:pPr>
            <a:r>
              <a:rPr sz="2800" spc="-80" dirty="0">
                <a:latin typeface="Times New Roman"/>
                <a:cs typeface="Times New Roman"/>
              </a:rPr>
              <a:t>total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25" dirty="0">
                <a:latin typeface="Times New Roman"/>
                <a:cs typeface="Times New Roman"/>
              </a:rPr>
              <a:t>number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of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memory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800">
              <a:latin typeface="Times New Roman"/>
              <a:cs typeface="Times New Roman"/>
            </a:endParaRPr>
          </a:p>
          <a:p>
            <a:pPr marL="548640" indent="-535940">
              <a:lnSpc>
                <a:spcPct val="100000"/>
              </a:lnSpc>
              <a:buFont typeface="Arial MT"/>
              <a:buChar char="•"/>
              <a:tabLst>
                <a:tab pos="548640" algn="l"/>
              </a:tabLst>
            </a:pPr>
            <a:r>
              <a:rPr sz="2800" b="1" spc="-50" dirty="0">
                <a:latin typeface="Times New Roman"/>
                <a:cs typeface="Times New Roman"/>
              </a:rPr>
              <a:t>Miss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Ratio </a:t>
            </a:r>
            <a:r>
              <a:rPr sz="2800" b="1" dirty="0">
                <a:latin typeface="Times New Roman"/>
                <a:cs typeface="Times New Roman"/>
              </a:rPr>
              <a:t>m=(1-</a:t>
            </a:r>
            <a:r>
              <a:rPr sz="2800" b="1" spc="-25" dirty="0">
                <a:latin typeface="Times New Roman"/>
                <a:cs typeface="Times New Roman"/>
              </a:rPr>
              <a:t>h)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4600" y="4572000"/>
            <a:ext cx="6324600" cy="76200"/>
          </a:xfrm>
          <a:custGeom>
            <a:avLst/>
            <a:gdLst/>
            <a:ahLst/>
            <a:cxnLst/>
            <a:rect l="l" t="t" r="r" b="b"/>
            <a:pathLst>
              <a:path w="6324600" h="76200">
                <a:moveTo>
                  <a:pt x="0" y="0"/>
                </a:moveTo>
                <a:lnTo>
                  <a:pt x="6324600" y="76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32" y="66547"/>
            <a:ext cx="9020175" cy="6699884"/>
            <a:chOff x="60832" y="66547"/>
            <a:chExt cx="9020175" cy="669988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576" y="4242437"/>
              <a:ext cx="283464" cy="3422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739" y="4046219"/>
              <a:ext cx="1197863" cy="7894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2560" y="4046219"/>
              <a:ext cx="1362455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4496" y="4046219"/>
              <a:ext cx="832104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4556" y="4046219"/>
              <a:ext cx="954023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6536" y="4046219"/>
              <a:ext cx="1594103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68596" y="4046219"/>
              <a:ext cx="1395984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12536" y="4046219"/>
              <a:ext cx="113080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91300" y="4046219"/>
              <a:ext cx="880872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20127" y="4046219"/>
              <a:ext cx="1261872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29955" y="4046219"/>
              <a:ext cx="659892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8159" y="4472939"/>
              <a:ext cx="950976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36775" y="4472939"/>
              <a:ext cx="1301496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05912" y="4472939"/>
              <a:ext cx="690372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63923" y="4472939"/>
              <a:ext cx="640079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70119" y="4472939"/>
              <a:ext cx="1235964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36692" y="4472939"/>
              <a:ext cx="577596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44896" y="4472939"/>
              <a:ext cx="1411224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23760" y="4472939"/>
              <a:ext cx="1466088" cy="78943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83540" y="40639"/>
            <a:ext cx="8212455" cy="6012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 marR="508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Example:</a:t>
            </a:r>
            <a:r>
              <a:rPr sz="2200" spc="-8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3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Assume</a:t>
            </a:r>
            <a:r>
              <a:rPr sz="2200" spc="-6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that</a:t>
            </a:r>
            <a:r>
              <a:rPr sz="2200" spc="-8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a</a:t>
            </a:r>
            <a:r>
              <a:rPr sz="2200" spc="-8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3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computer</a:t>
            </a:r>
            <a:r>
              <a:rPr sz="2200" spc="-7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system</a:t>
            </a:r>
            <a:r>
              <a:rPr sz="2200" spc="-6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4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employs</a:t>
            </a:r>
            <a:r>
              <a:rPr sz="2200" spc="-7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a</a:t>
            </a:r>
            <a:r>
              <a:rPr sz="2200" spc="-8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cache</a:t>
            </a:r>
            <a:r>
              <a:rPr sz="2200" spc="-6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with</a:t>
            </a:r>
            <a:r>
              <a:rPr sz="2200" spc="-9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an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access</a:t>
            </a:r>
            <a:r>
              <a:rPr sz="2200" spc="-4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2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time</a:t>
            </a:r>
            <a:r>
              <a:rPr sz="2200" spc="-6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of</a:t>
            </a:r>
            <a:r>
              <a:rPr sz="2200" spc="-7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20ns</a:t>
            </a:r>
            <a:r>
              <a:rPr sz="2200" spc="-7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and</a:t>
            </a:r>
            <a:r>
              <a:rPr sz="2200" spc="-7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a</a:t>
            </a:r>
            <a:r>
              <a:rPr sz="2200" spc="-6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4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main</a:t>
            </a:r>
            <a:r>
              <a:rPr sz="2200" spc="-8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4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memory</a:t>
            </a:r>
            <a:r>
              <a:rPr sz="2200" spc="-6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with</a:t>
            </a:r>
            <a:r>
              <a:rPr sz="2200" spc="-7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a</a:t>
            </a:r>
            <a:r>
              <a:rPr sz="2200" spc="-7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cycle</a:t>
            </a:r>
            <a:r>
              <a:rPr sz="2200" spc="-6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3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time</a:t>
            </a:r>
            <a:r>
              <a:rPr sz="2200" spc="-8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of</a:t>
            </a:r>
            <a:r>
              <a:rPr sz="2200" spc="-7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200ns.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Suppose</a:t>
            </a:r>
            <a:r>
              <a:rPr sz="2200" spc="-6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that</a:t>
            </a:r>
            <a:r>
              <a:rPr sz="2200" spc="-7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the</a:t>
            </a:r>
            <a:r>
              <a:rPr sz="2200" spc="-7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hit</a:t>
            </a:r>
            <a:r>
              <a:rPr sz="2200" spc="-7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ratio</a:t>
            </a:r>
            <a:r>
              <a:rPr sz="2200" spc="-9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1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for</a:t>
            </a:r>
            <a:r>
              <a:rPr sz="2200" spc="-8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reads</a:t>
            </a:r>
            <a:r>
              <a:rPr sz="2200" spc="-5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is</a:t>
            </a:r>
            <a:r>
              <a:rPr sz="2200" spc="-75" dirty="0">
                <a:solidFill>
                  <a:srgbClr val="464646"/>
                </a:solidFill>
                <a:latin typeface="Franklin Gothic Medium"/>
                <a:cs typeface="Franklin Gothic Medium"/>
              </a:rPr>
              <a:t> </a:t>
            </a:r>
            <a:r>
              <a:rPr sz="2200" spc="-20" dirty="0">
                <a:solidFill>
                  <a:srgbClr val="464646"/>
                </a:solidFill>
                <a:latin typeface="Franklin Gothic Medium"/>
                <a:cs typeface="Franklin Gothic Medium"/>
              </a:rPr>
              <a:t>90%,</a:t>
            </a:r>
            <a:endParaRPr sz="2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</a:pPr>
            <a:endParaRPr sz="22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200">
              <a:latin typeface="Franklin Gothic Medium"/>
              <a:cs typeface="Franklin Gothic Medium"/>
            </a:endParaRPr>
          </a:p>
          <a:p>
            <a:pPr marL="183515" indent="-170815">
              <a:lnSpc>
                <a:spcPts val="2590"/>
              </a:lnSpc>
              <a:buSzPct val="62500"/>
              <a:buAutoNum type="alphaLcParenR"/>
              <a:tabLst>
                <a:tab pos="183515" algn="l"/>
              </a:tabLst>
            </a:pPr>
            <a:r>
              <a:rPr sz="2400" spc="-100" dirty="0">
                <a:solidFill>
                  <a:srgbClr val="009900"/>
                </a:solidFill>
                <a:latin typeface="Times New Roman"/>
                <a:cs typeface="Times New Roman"/>
              </a:rPr>
              <a:t>what</a:t>
            </a:r>
            <a:r>
              <a:rPr sz="2400" spc="-5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009900"/>
                </a:solidFill>
                <a:latin typeface="Times New Roman"/>
                <a:cs typeface="Times New Roman"/>
              </a:rPr>
              <a:t>would</a:t>
            </a:r>
            <a:r>
              <a:rPr sz="2400" spc="-35" dirty="0">
                <a:solidFill>
                  <a:srgbClr val="009900"/>
                </a:solidFill>
                <a:latin typeface="Times New Roman"/>
                <a:cs typeface="Times New Roman"/>
              </a:rPr>
              <a:t> be</a:t>
            </a:r>
            <a:r>
              <a:rPr sz="2400" spc="-114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9900"/>
                </a:solidFill>
                <a:latin typeface="Times New Roman"/>
                <a:cs typeface="Times New Roman"/>
              </a:rPr>
              <a:t>the</a:t>
            </a:r>
            <a:r>
              <a:rPr sz="2400" spc="-14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155" dirty="0">
                <a:solidFill>
                  <a:srgbClr val="009900"/>
                </a:solidFill>
                <a:latin typeface="Times New Roman"/>
                <a:cs typeface="Times New Roman"/>
              </a:rPr>
              <a:t>average</a:t>
            </a:r>
            <a:r>
              <a:rPr sz="2400" spc="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160" dirty="0">
                <a:solidFill>
                  <a:srgbClr val="009900"/>
                </a:solidFill>
                <a:latin typeface="Times New Roman"/>
                <a:cs typeface="Times New Roman"/>
              </a:rPr>
              <a:t>access</a:t>
            </a:r>
            <a:r>
              <a:rPr sz="2400" spc="1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09900"/>
                </a:solidFill>
                <a:latin typeface="Times New Roman"/>
                <a:cs typeface="Times New Roman"/>
              </a:rPr>
              <a:t>time</a:t>
            </a:r>
            <a:r>
              <a:rPr sz="2400" spc="-10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40" dirty="0">
                <a:solidFill>
                  <a:srgbClr val="009900"/>
                </a:solidFill>
                <a:latin typeface="Times New Roman"/>
                <a:cs typeface="Times New Roman"/>
              </a:rPr>
              <a:t>for</a:t>
            </a:r>
            <a:r>
              <a:rPr sz="2400" spc="-55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105" dirty="0">
                <a:solidFill>
                  <a:srgbClr val="009900"/>
                </a:solidFill>
                <a:latin typeface="Times New Roman"/>
                <a:cs typeface="Times New Roman"/>
              </a:rPr>
              <a:t>reads</a:t>
            </a:r>
            <a:r>
              <a:rPr sz="2400" spc="-4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100" dirty="0">
                <a:solidFill>
                  <a:srgbClr val="009900"/>
                </a:solidFill>
                <a:latin typeface="Times New Roman"/>
                <a:cs typeface="Times New Roman"/>
              </a:rPr>
              <a:t>if</a:t>
            </a:r>
            <a:r>
              <a:rPr sz="2400" spc="-3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35" dirty="0">
                <a:solidFill>
                  <a:srgbClr val="009900"/>
                </a:solidFill>
                <a:latin typeface="Times New Roman"/>
                <a:cs typeface="Times New Roman"/>
              </a:rPr>
              <a:t>the </a:t>
            </a:r>
            <a:r>
              <a:rPr sz="2400" spc="-150" dirty="0">
                <a:solidFill>
                  <a:srgbClr val="009900"/>
                </a:solidFill>
                <a:latin typeface="Times New Roman"/>
                <a:cs typeface="Times New Roman"/>
              </a:rPr>
              <a:t>cache</a:t>
            </a:r>
            <a:r>
              <a:rPr sz="240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150" dirty="0">
                <a:solidFill>
                  <a:srgbClr val="009900"/>
                </a:solidFill>
                <a:latin typeface="Times New Roman"/>
                <a:cs typeface="Times New Roman"/>
              </a:rPr>
              <a:t>is</a:t>
            </a:r>
            <a:r>
              <a:rPr sz="240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200" dirty="0">
                <a:solidFill>
                  <a:srgbClr val="009900"/>
                </a:solidFill>
                <a:latin typeface="Times New Roman"/>
                <a:cs typeface="Times New Roman"/>
              </a:rPr>
              <a:t>a</a:t>
            </a:r>
            <a:r>
              <a:rPr sz="2400" spc="20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9900"/>
                </a:solidFill>
                <a:latin typeface="Times New Roman"/>
                <a:cs typeface="Times New Roman"/>
              </a:rPr>
              <a:t>“look-</a:t>
            </a:r>
            <a:endParaRPr sz="2400">
              <a:latin typeface="Times New Roman"/>
              <a:cs typeface="Times New Roman"/>
            </a:endParaRPr>
          </a:p>
          <a:p>
            <a:pPr marL="3340100">
              <a:lnSpc>
                <a:spcPts val="2590"/>
              </a:lnSpc>
            </a:pPr>
            <a:r>
              <a:rPr sz="2400" spc="-80" dirty="0">
                <a:solidFill>
                  <a:srgbClr val="009900"/>
                </a:solidFill>
                <a:latin typeface="Times New Roman"/>
                <a:cs typeface="Times New Roman"/>
              </a:rPr>
              <a:t>through”cache?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145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90" dirty="0">
                <a:latin typeface="Times New Roman"/>
                <a:cs typeface="Times New Roman"/>
              </a:rPr>
              <a:t>average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read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access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time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(</a:t>
            </a:r>
            <a:r>
              <a:rPr sz="2800" b="1" spc="-180" dirty="0">
                <a:latin typeface="Times New Roman"/>
                <a:cs typeface="Times New Roman"/>
              </a:rPr>
              <a:t>TA)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254" dirty="0">
                <a:latin typeface="Times New Roman"/>
                <a:cs typeface="Times New Roman"/>
              </a:rPr>
              <a:t>=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400" b="1" spc="-270" dirty="0">
                <a:latin typeface="Times New Roman"/>
                <a:cs typeface="Times New Roman"/>
              </a:rPr>
              <a:t>TC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229" dirty="0">
                <a:latin typeface="Times New Roman"/>
                <a:cs typeface="Times New Roman"/>
              </a:rPr>
              <a:t>+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(1-</a:t>
            </a:r>
            <a:r>
              <a:rPr sz="2400" b="1" spc="-10" dirty="0">
                <a:latin typeface="Times New Roman"/>
                <a:cs typeface="Times New Roman"/>
              </a:rPr>
              <a:t>h)*TM</a:t>
            </a:r>
            <a:endParaRPr sz="2400">
              <a:latin typeface="Times New Roman"/>
              <a:cs typeface="Times New Roman"/>
            </a:endParaRPr>
          </a:p>
          <a:p>
            <a:pPr marL="9525" algn="ctr">
              <a:lnSpc>
                <a:spcPct val="100000"/>
              </a:lnSpc>
              <a:spcBef>
                <a:spcPts val="5"/>
              </a:spcBef>
            </a:pPr>
            <a:r>
              <a:rPr sz="2800" spc="-155" dirty="0">
                <a:latin typeface="Times New Roman"/>
                <a:cs typeface="Times New Roman"/>
              </a:rPr>
              <a:t>20ns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+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0.10*200ns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=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40ns</a:t>
            </a:r>
            <a:endParaRPr sz="2800">
              <a:latin typeface="Times New Roman"/>
              <a:cs typeface="Times New Roman"/>
            </a:endParaRPr>
          </a:p>
          <a:p>
            <a:pPr marL="355600" marR="146685" indent="-342900">
              <a:lnSpc>
                <a:spcPct val="100000"/>
              </a:lnSpc>
              <a:spcBef>
                <a:spcPts val="2495"/>
              </a:spcBef>
              <a:buAutoNum type="alphaLcParenR" startAt="2"/>
              <a:tabLst>
                <a:tab pos="355600" algn="l"/>
                <a:tab pos="423545" algn="l"/>
                <a:tab pos="1473835" algn="l"/>
                <a:tab pos="2943860" algn="l"/>
                <a:tab pos="3801745" algn="l"/>
                <a:tab pos="4608195" algn="l"/>
                <a:tab pos="7061834" algn="l"/>
              </a:tabLst>
            </a:pP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	what</a:t>
            </a:r>
            <a:r>
              <a:rPr sz="2800" spc="210" dirty="0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would</a:t>
            </a:r>
            <a:r>
              <a:rPr sz="2800" spc="225" dirty="0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be</a:t>
            </a:r>
            <a:r>
              <a:rPr sz="2800" spc="210" dirty="0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the</a:t>
            </a:r>
            <a:r>
              <a:rPr sz="2800" spc="225" dirty="0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average</a:t>
            </a:r>
            <a:r>
              <a:rPr sz="2800" spc="210" dirty="0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access</a:t>
            </a:r>
            <a:r>
              <a:rPr sz="2800" spc="220" dirty="0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time</a:t>
            </a:r>
            <a:r>
              <a:rPr sz="2800" spc="215" dirty="0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for</a:t>
            </a:r>
            <a:r>
              <a:rPr sz="2800" spc="210" dirty="0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reads</a:t>
            </a:r>
            <a:r>
              <a:rPr sz="2800" spc="220" dirty="0">
                <a:solidFill>
                  <a:srgbClr val="0099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9900"/>
                </a:solidFill>
                <a:latin typeface="Calibri"/>
                <a:cs typeface="Calibri"/>
              </a:rPr>
              <a:t>if the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009900"/>
                </a:solidFill>
                <a:latin typeface="Calibri"/>
                <a:cs typeface="Calibri"/>
              </a:rPr>
              <a:t>cache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rgbClr val="009900"/>
                </a:solidFill>
                <a:latin typeface="Calibri"/>
                <a:cs typeface="Calibri"/>
              </a:rPr>
              <a:t>is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	</a:t>
            </a:r>
            <a:r>
              <a:rPr sz="2800" spc="-50" dirty="0">
                <a:solidFill>
                  <a:srgbClr val="009900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rgbClr val="009900"/>
                </a:solidFill>
                <a:latin typeface="Calibri"/>
                <a:cs typeface="Calibri"/>
              </a:rPr>
              <a:t>“look-</a:t>
            </a:r>
            <a:r>
              <a:rPr sz="2800" spc="-10" dirty="0">
                <a:solidFill>
                  <a:srgbClr val="009900"/>
                </a:solidFill>
                <a:latin typeface="Calibri"/>
                <a:cs typeface="Calibri"/>
              </a:rPr>
              <a:t>Aside”</a:t>
            </a:r>
            <a:r>
              <a:rPr sz="2800" dirty="0">
                <a:solidFill>
                  <a:srgbClr val="009900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rgbClr val="009900"/>
                </a:solidFill>
                <a:latin typeface="Calibri"/>
                <a:cs typeface="Calibri"/>
              </a:rPr>
              <a:t>cache?</a:t>
            </a:r>
            <a:endParaRPr sz="280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865"/>
              </a:spcBef>
            </a:pPr>
            <a:r>
              <a:rPr sz="2800" spc="-145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90" dirty="0">
                <a:latin typeface="Times New Roman"/>
                <a:cs typeface="Times New Roman"/>
              </a:rPr>
              <a:t>average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20" dirty="0">
                <a:latin typeface="Times New Roman"/>
                <a:cs typeface="Times New Roman"/>
              </a:rPr>
              <a:t>read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85" dirty="0">
                <a:latin typeface="Times New Roman"/>
                <a:cs typeface="Times New Roman"/>
              </a:rPr>
              <a:t>access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5" dirty="0">
                <a:latin typeface="Times New Roman"/>
                <a:cs typeface="Times New Roman"/>
              </a:rPr>
              <a:t>time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40" dirty="0">
                <a:latin typeface="Times New Roman"/>
                <a:cs typeface="Times New Roman"/>
              </a:rPr>
              <a:t>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30" dirty="0">
                <a:latin typeface="Times New Roman"/>
                <a:cs typeface="Times New Roman"/>
              </a:rPr>
              <a:t>this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80" dirty="0">
                <a:latin typeface="Times New Roman"/>
                <a:cs typeface="Times New Roman"/>
              </a:rPr>
              <a:t>case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(</a:t>
            </a:r>
            <a:r>
              <a:rPr sz="2800" b="1" spc="-20" dirty="0">
                <a:latin typeface="Times New Roman"/>
                <a:cs typeface="Times New Roman"/>
              </a:rPr>
              <a:t>TA)</a:t>
            </a:r>
            <a:endParaRPr sz="28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675"/>
              </a:spcBef>
              <a:tabLst>
                <a:tab pos="3115945" algn="l"/>
              </a:tabLst>
            </a:pPr>
            <a:r>
              <a:rPr sz="2800" b="1" spc="254" dirty="0">
                <a:latin typeface="Times New Roman"/>
                <a:cs typeface="Times New Roman"/>
              </a:rPr>
              <a:t>=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400" b="1" spc="-140" dirty="0">
                <a:latin typeface="Times New Roman"/>
                <a:cs typeface="Times New Roman"/>
              </a:rPr>
              <a:t>h*TC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229" dirty="0">
                <a:latin typeface="Times New Roman"/>
                <a:cs typeface="Times New Roman"/>
              </a:rPr>
              <a:t>+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(1-</a:t>
            </a:r>
            <a:r>
              <a:rPr sz="2400" b="1" spc="-10" dirty="0">
                <a:latin typeface="Times New Roman"/>
                <a:cs typeface="Times New Roman"/>
              </a:rPr>
              <a:t>h)*TM=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800" spc="-110" dirty="0">
                <a:latin typeface="Times New Roman"/>
                <a:cs typeface="Times New Roman"/>
              </a:rPr>
              <a:t>0.9*20ns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+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14" dirty="0">
                <a:latin typeface="Times New Roman"/>
                <a:cs typeface="Times New Roman"/>
              </a:rPr>
              <a:t>0.10*200ns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280" dirty="0">
                <a:latin typeface="Times New Roman"/>
                <a:cs typeface="Times New Roman"/>
              </a:rPr>
              <a:t>=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38ns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Source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Cache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misses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1799687"/>
            <a:ext cx="7430770" cy="41529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14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Compulsory Misses: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(Cold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start)</a:t>
            </a:r>
            <a:endParaRPr sz="240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Times New Roman"/>
                <a:cs typeface="Times New Roman"/>
              </a:rPr>
              <a:t>Occur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first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started</a:t>
            </a:r>
            <a:endParaRPr sz="240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Times New Roman"/>
                <a:cs typeface="Times New Roman"/>
              </a:rPr>
              <a:t>Cache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program’s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yet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7020" algn="l"/>
              </a:tabLst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Capacity</a:t>
            </a:r>
            <a:r>
              <a:rPr sz="24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Misses:</a:t>
            </a:r>
            <a:endParaRPr sz="2400">
              <a:latin typeface="Times New Roman"/>
              <a:cs typeface="Times New Roman"/>
            </a:endParaRPr>
          </a:p>
          <a:p>
            <a:pPr marL="100330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Times New Roman"/>
                <a:cs typeface="Times New Roman"/>
              </a:rPr>
              <a:t>Occurs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cache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 a limited</a:t>
            </a:r>
            <a:r>
              <a:rPr sz="2400" spc="-20" dirty="0">
                <a:latin typeface="Times New Roman"/>
                <a:cs typeface="Times New Roman"/>
              </a:rPr>
              <a:t> size</a:t>
            </a:r>
            <a:endParaRPr sz="2400">
              <a:latin typeface="Times New Roman"/>
              <a:cs typeface="Times New Roman"/>
            </a:endParaRPr>
          </a:p>
          <a:p>
            <a:pPr marL="1087120" lvl="1" indent="-480059">
              <a:lnSpc>
                <a:spcPct val="100000"/>
              </a:lnSpc>
              <a:spcBef>
                <a:spcPts val="140"/>
              </a:spcBef>
              <a:buClr>
                <a:srgbClr val="ACCEDC"/>
              </a:buClr>
              <a:buSzPct val="72727"/>
              <a:buFont typeface="Arial MT"/>
              <a:buChar char="•"/>
              <a:tabLst>
                <a:tab pos="1087120" algn="l"/>
              </a:tabLst>
            </a:pPr>
            <a:r>
              <a:rPr sz="2200" spc="-20" dirty="0">
                <a:latin typeface="Times New Roman"/>
                <a:cs typeface="Times New Roman"/>
              </a:rPr>
              <a:t>(Working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larger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cache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size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1137285" lvl="1" indent="-530225">
              <a:lnSpc>
                <a:spcPct val="100000"/>
              </a:lnSpc>
              <a:spcBef>
                <a:spcPts val="190"/>
              </a:spcBef>
              <a:buClr>
                <a:srgbClr val="ACCEDC"/>
              </a:buClr>
              <a:buSzPct val="84210"/>
              <a:buFont typeface="Arial MT"/>
              <a:buChar char="•"/>
              <a:tabLst>
                <a:tab pos="1137285" algn="l"/>
              </a:tabLst>
            </a:pPr>
            <a:r>
              <a:rPr sz="1900" dirty="0">
                <a:latin typeface="Times New Roman"/>
                <a:cs typeface="Times New Roman"/>
              </a:rPr>
              <a:t>Solution: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increase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cache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size</a:t>
            </a:r>
            <a:endParaRPr sz="19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Clr>
                <a:srgbClr val="2CA1BE"/>
              </a:buClr>
              <a:buSzPct val="85416"/>
              <a:buFont typeface="Wingdings"/>
              <a:buChar char=""/>
              <a:tabLst>
                <a:tab pos="287020" algn="l"/>
              </a:tabLst>
            </a:pP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Conflict</a:t>
            </a:r>
            <a:r>
              <a:rPr sz="2400" b="1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Misses: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spc="-5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896619" lvl="1" indent="-289560">
              <a:lnSpc>
                <a:spcPct val="100000"/>
              </a:lnSpc>
              <a:spcBef>
                <a:spcPts val="190"/>
              </a:spcBef>
              <a:buClr>
                <a:srgbClr val="ACCEDC"/>
              </a:buClr>
              <a:buSzPct val="84210"/>
              <a:buFont typeface="Arial MT"/>
              <a:buChar char="•"/>
              <a:tabLst>
                <a:tab pos="896619" algn="l"/>
              </a:tabLst>
            </a:pPr>
            <a:r>
              <a:rPr sz="1900" dirty="0">
                <a:latin typeface="Times New Roman"/>
                <a:cs typeface="Times New Roman"/>
              </a:rPr>
              <a:t>(One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fills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up,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but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space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other cache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sets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955675" lvl="1" indent="-348615">
              <a:lnSpc>
                <a:spcPct val="100000"/>
              </a:lnSpc>
              <a:spcBef>
                <a:spcPts val="165"/>
              </a:spcBef>
              <a:buClr>
                <a:srgbClr val="ACCEDC"/>
              </a:buClr>
              <a:buSzPct val="84210"/>
              <a:buFont typeface="Arial MT"/>
              <a:buChar char="•"/>
              <a:tabLst>
                <a:tab pos="955675" algn="l"/>
              </a:tabLst>
            </a:pPr>
            <a:r>
              <a:rPr sz="1900" dirty="0">
                <a:latin typeface="Times New Roman"/>
                <a:cs typeface="Times New Roman"/>
              </a:rPr>
              <a:t>Solution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: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increase</a:t>
            </a:r>
            <a:r>
              <a:rPr sz="1900" spc="4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cache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size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330" dirty="0">
                <a:latin typeface="Arial"/>
                <a:cs typeface="Arial"/>
              </a:rPr>
              <a:t>Block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225" dirty="0">
                <a:latin typeface="Arial"/>
                <a:cs typeface="Arial"/>
              </a:rPr>
              <a:t>Replacement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94169"/>
            <a:ext cx="7268845" cy="42576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409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b="1" dirty="0">
                <a:latin typeface="Times New Roman"/>
                <a:cs typeface="Times New Roman"/>
              </a:rPr>
              <a:t>Least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Recently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Used: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(LRU)</a:t>
            </a:r>
            <a:endParaRPr sz="2400">
              <a:latin typeface="Times New Roman"/>
              <a:cs typeface="Times New Roman"/>
            </a:endParaRPr>
          </a:p>
          <a:p>
            <a:pPr marL="621665">
              <a:lnSpc>
                <a:spcPts val="2735"/>
              </a:lnSpc>
              <a:spcBef>
                <a:spcPts val="315"/>
              </a:spcBef>
            </a:pPr>
            <a:r>
              <a:rPr sz="2400" dirty="0">
                <a:latin typeface="Times New Roman"/>
                <a:cs typeface="Times New Roman"/>
              </a:rPr>
              <a:t>Replace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 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 been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cache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longest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 reference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b="1" dirty="0">
                <a:latin typeface="Times New Roman"/>
                <a:cs typeface="Times New Roman"/>
              </a:rPr>
              <a:t>First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First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Out: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(FIFO)</a:t>
            </a:r>
            <a:endParaRPr sz="2400">
              <a:latin typeface="Times New Roman"/>
              <a:cs typeface="Times New Roman"/>
            </a:endParaRPr>
          </a:p>
          <a:p>
            <a:pPr marL="621665">
              <a:lnSpc>
                <a:spcPts val="2735"/>
              </a:lnSpc>
              <a:spcBef>
                <a:spcPts val="315"/>
              </a:spcBef>
            </a:pPr>
            <a:r>
              <a:rPr sz="2400" dirty="0">
                <a:latin typeface="Times New Roman"/>
                <a:cs typeface="Times New Roman"/>
              </a:rPr>
              <a:t>Replace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 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 been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cache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ts val="2735"/>
              </a:lnSpc>
            </a:pPr>
            <a:r>
              <a:rPr sz="2400" spc="-10" dirty="0">
                <a:latin typeface="Times New Roman"/>
                <a:cs typeface="Times New Roman"/>
              </a:rPr>
              <a:t>longest.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5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b="1" dirty="0">
                <a:latin typeface="Times New Roman"/>
                <a:cs typeface="Times New Roman"/>
              </a:rPr>
              <a:t>Least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Frequently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Used: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(LFU)</a:t>
            </a:r>
            <a:endParaRPr sz="2400">
              <a:latin typeface="Times New Roman"/>
              <a:cs typeface="Times New Roman"/>
            </a:endParaRPr>
          </a:p>
          <a:p>
            <a:pPr marL="286385" marR="347345" indent="182880">
              <a:lnSpc>
                <a:spcPts val="2590"/>
              </a:lnSpc>
              <a:spcBef>
                <a:spcPts val="640"/>
              </a:spcBef>
            </a:pPr>
            <a:r>
              <a:rPr sz="2400" dirty="0">
                <a:latin typeface="Times New Roman"/>
                <a:cs typeface="Times New Roman"/>
              </a:rPr>
              <a:t>Replace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experienced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fewest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Update</a:t>
            </a:r>
            <a:r>
              <a:rPr spc="-250" dirty="0"/>
              <a:t> </a:t>
            </a:r>
            <a:r>
              <a:rPr spc="-20" dirty="0"/>
              <a:t>policies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830747"/>
            <a:ext cx="4345940" cy="19157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50" dirty="0">
                <a:latin typeface="Times New Roman"/>
                <a:cs typeface="Times New Roman"/>
              </a:rPr>
              <a:t>Write</a:t>
            </a:r>
            <a:r>
              <a:rPr sz="2600" spc="-3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Through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30" dirty="0">
                <a:latin typeface="Times New Roman"/>
                <a:cs typeface="Times New Roman"/>
              </a:rPr>
              <a:t>Write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Back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30" dirty="0">
                <a:latin typeface="Times New Roman"/>
                <a:cs typeface="Times New Roman"/>
              </a:rPr>
              <a:t>Write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allocate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spc="-135" dirty="0">
                <a:latin typeface="Times New Roman"/>
                <a:cs typeface="Times New Roman"/>
              </a:rPr>
              <a:t>No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45" dirty="0">
                <a:latin typeface="Times New Roman"/>
                <a:cs typeface="Times New Roman"/>
              </a:rPr>
              <a:t>write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5" dirty="0">
                <a:latin typeface="Times New Roman"/>
                <a:cs typeface="Times New Roman"/>
              </a:rPr>
              <a:t>allocate</a:t>
            </a:r>
            <a:r>
              <a:rPr sz="2600" spc="-50" dirty="0">
                <a:latin typeface="Times New Roman"/>
                <a:cs typeface="Times New Roman"/>
              </a:rPr>
              <a:t> (Write</a:t>
            </a:r>
            <a:r>
              <a:rPr sz="2600" spc="-26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Around)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spc="-20" dirty="0">
                <a:latin typeface="Times New Roman"/>
                <a:cs typeface="Times New Roman"/>
              </a:rPr>
              <a:t>Write</a:t>
            </a:r>
            <a:r>
              <a:rPr sz="3600" b="1" i="1" spc="-200" dirty="0">
                <a:latin typeface="Times New Roman"/>
                <a:cs typeface="Times New Roman"/>
              </a:rPr>
              <a:t> </a:t>
            </a:r>
            <a:r>
              <a:rPr sz="3600" b="1" i="1" spc="-10" dirty="0">
                <a:latin typeface="Times New Roman"/>
                <a:cs typeface="Times New Roman"/>
              </a:rPr>
              <a:t>through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62202"/>
            <a:ext cx="6973570" cy="43548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-114" dirty="0">
                <a:latin typeface="Times New Roman"/>
                <a:cs typeface="Times New Roman"/>
              </a:rPr>
              <a:t>Update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main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memory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0" dirty="0">
                <a:latin typeface="Times New Roman"/>
                <a:cs typeface="Times New Roman"/>
              </a:rPr>
              <a:t>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every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memory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write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operation</a:t>
            </a:r>
            <a:endParaRPr sz="24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600"/>
              </a:spcBef>
              <a:buClr>
                <a:srgbClr val="2CA1BE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sz="2400" spc="4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i="1" spc="-275" dirty="0">
                <a:solidFill>
                  <a:srgbClr val="006FC0"/>
                </a:solidFill>
                <a:latin typeface="Times New Roman"/>
                <a:cs typeface="Times New Roman"/>
              </a:rPr>
              <a:t>Advantage</a:t>
            </a:r>
            <a:r>
              <a:rPr sz="2400" i="1" spc="-27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2354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easy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implement</a:t>
            </a:r>
            <a:endParaRPr sz="2400">
              <a:latin typeface="Times New Roman"/>
              <a:cs typeface="Times New Roman"/>
            </a:endParaRPr>
          </a:p>
          <a:p>
            <a:pPr marL="286385" marR="5080" lvl="1" indent="231140">
              <a:lnSpc>
                <a:spcPct val="100000"/>
              </a:lnSpc>
              <a:buChar char="-"/>
              <a:tabLst>
                <a:tab pos="517525" algn="l"/>
              </a:tabLst>
            </a:pPr>
            <a:r>
              <a:rPr sz="2400" spc="-150" dirty="0">
                <a:latin typeface="Times New Roman"/>
                <a:cs typeface="Times New Roman"/>
              </a:rPr>
              <a:t>main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memory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4" dirty="0">
                <a:latin typeface="Times New Roman"/>
                <a:cs typeface="Times New Roman"/>
              </a:rPr>
              <a:t>always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90" dirty="0">
                <a:latin typeface="Times New Roman"/>
                <a:cs typeface="Times New Roman"/>
              </a:rPr>
              <a:t>has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10" dirty="0">
                <a:latin typeface="Times New Roman"/>
                <a:cs typeface="Times New Roman"/>
              </a:rPr>
              <a:t>most</a:t>
            </a:r>
            <a:r>
              <a:rPr sz="2400" spc="-55" dirty="0">
                <a:latin typeface="Times New Roman"/>
                <a:cs typeface="Times New Roman"/>
              </a:rPr>
              <a:t> current </a:t>
            </a:r>
            <a:r>
              <a:rPr sz="2400" spc="-155" dirty="0">
                <a:latin typeface="Times New Roman"/>
                <a:cs typeface="Times New Roman"/>
              </a:rPr>
              <a:t>copy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4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Times New Roman"/>
                <a:cs typeface="Times New Roman"/>
              </a:rPr>
              <a:t>data </a:t>
            </a:r>
            <a:r>
              <a:rPr sz="2400" spc="-10" dirty="0">
                <a:latin typeface="Times New Roman"/>
                <a:cs typeface="Times New Roman"/>
              </a:rPr>
              <a:t>(consistent)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25"/>
              </a:spcBef>
              <a:buFont typeface="Times New Roman"/>
              <a:buChar char="-"/>
            </a:pP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</a:pPr>
            <a:r>
              <a:rPr sz="2400" i="1" spc="-265" dirty="0">
                <a:solidFill>
                  <a:srgbClr val="006FC0"/>
                </a:solidFill>
                <a:latin typeface="Times New Roman"/>
                <a:cs typeface="Times New Roman"/>
              </a:rPr>
              <a:t>Disadvantage:</a:t>
            </a:r>
            <a:endParaRPr sz="2400">
              <a:latin typeface="Times New Roman"/>
              <a:cs typeface="Times New Roman"/>
            </a:endParaRPr>
          </a:p>
          <a:p>
            <a:pPr marL="516255" lvl="1" indent="-162560">
              <a:lnSpc>
                <a:spcPct val="100000"/>
              </a:lnSpc>
              <a:spcBef>
                <a:spcPts val="600"/>
              </a:spcBef>
              <a:buChar char="-"/>
              <a:tabLst>
                <a:tab pos="516255" algn="l"/>
              </a:tabLst>
            </a:pPr>
            <a:r>
              <a:rPr sz="2400" spc="-50" dirty="0">
                <a:latin typeface="Times New Roman"/>
                <a:cs typeface="Times New Roman"/>
              </a:rPr>
              <a:t>write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is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slower</a:t>
            </a:r>
            <a:endParaRPr sz="2400">
              <a:latin typeface="Times New Roman"/>
              <a:cs typeface="Times New Roman"/>
            </a:endParaRPr>
          </a:p>
          <a:p>
            <a:pPr marL="517525" lvl="1" indent="-162560">
              <a:lnSpc>
                <a:spcPct val="100000"/>
              </a:lnSpc>
              <a:buChar char="-"/>
              <a:tabLst>
                <a:tab pos="517525" algn="l"/>
              </a:tabLst>
            </a:pPr>
            <a:r>
              <a:rPr sz="2400" spc="-140" dirty="0">
                <a:latin typeface="Times New Roman"/>
                <a:cs typeface="Times New Roman"/>
              </a:rPr>
              <a:t>every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write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needs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main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memory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access</a:t>
            </a:r>
            <a:endParaRPr sz="2400">
              <a:latin typeface="Times New Roman"/>
              <a:cs typeface="Times New Roman"/>
            </a:endParaRPr>
          </a:p>
          <a:p>
            <a:pPr marL="517525" lvl="1" indent="-162560">
              <a:lnSpc>
                <a:spcPct val="100000"/>
              </a:lnSpc>
              <a:buChar char="-"/>
              <a:tabLst>
                <a:tab pos="517525" algn="l"/>
              </a:tabLst>
            </a:pPr>
            <a:r>
              <a:rPr sz="2400" spc="-190" dirty="0">
                <a:latin typeface="Times New Roman"/>
                <a:cs typeface="Times New Roman"/>
              </a:rPr>
              <a:t>as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80" dirty="0">
                <a:latin typeface="Times New Roman"/>
                <a:cs typeface="Times New Roman"/>
              </a:rPr>
              <a:t>result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0" dirty="0">
                <a:latin typeface="Times New Roman"/>
                <a:cs typeface="Times New Roman"/>
              </a:rPr>
              <a:t>uses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95" dirty="0">
                <a:latin typeface="Times New Roman"/>
                <a:cs typeface="Times New Roman"/>
              </a:rPr>
              <a:t>more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14" dirty="0">
                <a:latin typeface="Times New Roman"/>
                <a:cs typeface="Times New Roman"/>
              </a:rPr>
              <a:t>memory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bandwidth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6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spc="-20" dirty="0">
                <a:latin typeface="Times New Roman"/>
                <a:cs typeface="Times New Roman"/>
              </a:rPr>
              <a:t>Write</a:t>
            </a:r>
            <a:r>
              <a:rPr sz="3600" b="1" i="1" spc="-200" dirty="0">
                <a:latin typeface="Times New Roman"/>
                <a:cs typeface="Times New Roman"/>
              </a:rPr>
              <a:t> </a:t>
            </a:r>
            <a:r>
              <a:rPr sz="3600" b="1" i="1" spc="-20" dirty="0">
                <a:latin typeface="Times New Roman"/>
                <a:cs typeface="Times New Roman"/>
              </a:rPr>
              <a:t>back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391158"/>
            <a:ext cx="7568565" cy="42691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6385" marR="191135" indent="-274320">
              <a:lnSpc>
                <a:spcPct val="80000"/>
              </a:lnSpc>
              <a:spcBef>
                <a:spcPts val="620"/>
              </a:spcBef>
              <a:buClr>
                <a:srgbClr val="2CA1BE"/>
              </a:buClr>
              <a:buSzPct val="84090"/>
              <a:buFont typeface="Segoe UI Symbol"/>
              <a:buChar char="⚫"/>
              <a:tabLst>
                <a:tab pos="286385" algn="l"/>
              </a:tabLst>
            </a:pP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information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written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only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block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in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cache.The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modified </a:t>
            </a:r>
            <a:r>
              <a:rPr sz="2200" spc="-135" dirty="0">
                <a:latin typeface="Times New Roman"/>
                <a:cs typeface="Times New Roman"/>
              </a:rPr>
              <a:t>cache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block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written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main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memory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only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when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replaced.</a:t>
            </a:r>
            <a:endParaRPr sz="22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110"/>
              </a:lnSpc>
              <a:spcBef>
                <a:spcPts val="590"/>
              </a:spcBef>
              <a:buChar char="⚫"/>
              <a:tabLst>
                <a:tab pos="286385" algn="l"/>
                <a:tab pos="316865" algn="l"/>
              </a:tabLst>
            </a:pPr>
            <a:r>
              <a:rPr sz="1850" dirty="0">
                <a:solidFill>
                  <a:srgbClr val="2CA1BE"/>
                </a:solidFill>
                <a:latin typeface="Segoe UI Symbol"/>
                <a:cs typeface="Segoe UI Symbol"/>
              </a:rPr>
              <a:t>	</a:t>
            </a:r>
            <a:r>
              <a:rPr sz="2200" spc="-26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reduce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frequency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writing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back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blocks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replacement, </a:t>
            </a:r>
            <a:r>
              <a:rPr sz="2200" spc="-18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b="1" i="1" spc="-10" dirty="0">
                <a:latin typeface="Times New Roman"/>
                <a:cs typeface="Times New Roman"/>
              </a:rPr>
              <a:t>dirty </a:t>
            </a:r>
            <a:r>
              <a:rPr sz="2200" b="1" i="1" dirty="0">
                <a:latin typeface="Times New Roman"/>
                <a:cs typeface="Times New Roman"/>
              </a:rPr>
              <a:t>bit</a:t>
            </a:r>
            <a:r>
              <a:rPr sz="2200" b="1" i="1" spc="-1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commonly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used.</a:t>
            </a:r>
            <a:r>
              <a:rPr sz="2200" spc="-39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This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status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bit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indicates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85" dirty="0">
                <a:latin typeface="Times New Roman"/>
                <a:cs typeface="Times New Roman"/>
              </a:rPr>
              <a:t>whether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block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dirty </a:t>
            </a:r>
            <a:r>
              <a:rPr sz="2200" spc="-120" dirty="0">
                <a:latin typeface="Times New Roman"/>
                <a:cs typeface="Times New Roman"/>
              </a:rPr>
              <a:t>(modified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while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in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0" dirty="0">
                <a:latin typeface="Times New Roman"/>
                <a:cs typeface="Times New Roman"/>
              </a:rPr>
              <a:t>cache)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clean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(not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modified).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75" dirty="0">
                <a:latin typeface="Times New Roman"/>
                <a:cs typeface="Times New Roman"/>
              </a:rPr>
              <a:t>If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clean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spc="-125" dirty="0">
                <a:latin typeface="Times New Roman"/>
                <a:cs typeface="Times New Roman"/>
              </a:rPr>
              <a:t>block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not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written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85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miss.</a:t>
            </a:r>
            <a:endParaRPr sz="2200">
              <a:latin typeface="Times New Roman"/>
              <a:cs typeface="Times New Roman"/>
            </a:endParaRPr>
          </a:p>
          <a:p>
            <a:pPr marL="286385">
              <a:lnSpc>
                <a:spcPts val="2375"/>
              </a:lnSpc>
              <a:spcBef>
                <a:spcPts val="2210"/>
              </a:spcBef>
            </a:pPr>
            <a:r>
              <a:rPr sz="2200" i="1" spc="-150" dirty="0">
                <a:solidFill>
                  <a:srgbClr val="006FC0"/>
                </a:solidFill>
                <a:latin typeface="Times New Roman"/>
                <a:cs typeface="Times New Roman"/>
              </a:rPr>
              <a:t>Advantage:</a:t>
            </a:r>
            <a:endParaRPr sz="2200">
              <a:latin typeface="Times New Roman"/>
              <a:cs typeface="Times New Roman"/>
            </a:endParaRPr>
          </a:p>
          <a:p>
            <a:pPr marL="501015" lvl="1" indent="-150495">
              <a:lnSpc>
                <a:spcPts val="2110"/>
              </a:lnSpc>
              <a:buChar char="-"/>
              <a:tabLst>
                <a:tab pos="501015" algn="l"/>
              </a:tabLst>
            </a:pPr>
            <a:r>
              <a:rPr sz="2200" spc="-75" dirty="0">
                <a:latin typeface="Times New Roman"/>
                <a:cs typeface="Times New Roman"/>
              </a:rPr>
              <a:t>writes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occur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7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10" dirty="0">
                <a:latin typeface="Times New Roman"/>
                <a:cs typeface="Times New Roman"/>
              </a:rPr>
              <a:t>speed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35" dirty="0">
                <a:latin typeface="Times New Roman"/>
                <a:cs typeface="Times New Roman"/>
              </a:rPr>
              <a:t>cache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memory</a:t>
            </a:r>
            <a:endParaRPr sz="2200">
              <a:latin typeface="Times New Roman"/>
              <a:cs typeface="Times New Roman"/>
            </a:endParaRPr>
          </a:p>
          <a:p>
            <a:pPr marL="286385" marR="864235" lvl="1" indent="213995">
              <a:lnSpc>
                <a:spcPct val="80000"/>
              </a:lnSpc>
              <a:spcBef>
                <a:spcPts val="265"/>
              </a:spcBef>
              <a:buChar char="-"/>
              <a:tabLst>
                <a:tab pos="500380" algn="l"/>
              </a:tabLst>
            </a:pPr>
            <a:r>
              <a:rPr sz="2200" spc="-95" dirty="0">
                <a:latin typeface="Times New Roman"/>
                <a:cs typeface="Times New Roman"/>
              </a:rPr>
              <a:t>multiple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writes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Times New Roman"/>
                <a:cs typeface="Times New Roman"/>
              </a:rPr>
              <a:t>within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8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25" dirty="0">
                <a:latin typeface="Times New Roman"/>
                <a:cs typeface="Times New Roman"/>
              </a:rPr>
              <a:t>block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require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only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0" dirty="0">
                <a:latin typeface="Times New Roman"/>
                <a:cs typeface="Times New Roman"/>
              </a:rPr>
              <a:t>one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write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main </a:t>
            </a:r>
            <a:r>
              <a:rPr sz="2200" spc="-10" dirty="0">
                <a:latin typeface="Times New Roman"/>
                <a:cs typeface="Times New Roman"/>
              </a:rPr>
              <a:t>memory</a:t>
            </a:r>
            <a:endParaRPr sz="2200">
              <a:latin typeface="Times New Roman"/>
              <a:cs typeface="Times New Roman"/>
            </a:endParaRPr>
          </a:p>
          <a:p>
            <a:pPr marL="501015" lvl="1" indent="-150495">
              <a:lnSpc>
                <a:spcPts val="1850"/>
              </a:lnSpc>
              <a:buChar char="-"/>
              <a:tabLst>
                <a:tab pos="501015" algn="l"/>
              </a:tabLst>
            </a:pPr>
            <a:r>
              <a:rPr sz="2200" spc="-18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80" dirty="0">
                <a:latin typeface="Times New Roman"/>
                <a:cs typeface="Times New Roman"/>
              </a:rPr>
              <a:t>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75" dirty="0">
                <a:latin typeface="Times New Roman"/>
                <a:cs typeface="Times New Roman"/>
              </a:rPr>
              <a:t>result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uses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40" dirty="0">
                <a:latin typeface="Times New Roman"/>
                <a:cs typeface="Times New Roman"/>
              </a:rPr>
              <a:t>less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memory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bandwidth</a:t>
            </a:r>
            <a:endParaRPr sz="2200">
              <a:latin typeface="Times New Roman"/>
              <a:cs typeface="Times New Roman"/>
            </a:endParaRPr>
          </a:p>
          <a:p>
            <a:pPr marL="286385">
              <a:lnSpc>
                <a:spcPts val="2115"/>
              </a:lnSpc>
            </a:pPr>
            <a:r>
              <a:rPr sz="2200" i="1" spc="-165" dirty="0">
                <a:solidFill>
                  <a:srgbClr val="006FC0"/>
                </a:solidFill>
                <a:latin typeface="Times New Roman"/>
                <a:cs typeface="Times New Roman"/>
              </a:rPr>
              <a:t>Disadvantage:</a:t>
            </a:r>
            <a:endParaRPr sz="2200">
              <a:latin typeface="Times New Roman"/>
              <a:cs typeface="Times New Roman"/>
            </a:endParaRPr>
          </a:p>
          <a:p>
            <a:pPr marL="563880" lvl="2" indent="-150495">
              <a:lnSpc>
                <a:spcPts val="2110"/>
              </a:lnSpc>
              <a:buChar char="-"/>
              <a:tabLst>
                <a:tab pos="563880" algn="l"/>
              </a:tabLst>
            </a:pPr>
            <a:r>
              <a:rPr sz="2200" spc="-90" dirty="0">
                <a:latin typeface="Times New Roman"/>
                <a:cs typeface="Times New Roman"/>
              </a:rPr>
              <a:t>harder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implement</a:t>
            </a:r>
            <a:endParaRPr sz="2200">
              <a:latin typeface="Times New Roman"/>
              <a:cs typeface="Times New Roman"/>
            </a:endParaRPr>
          </a:p>
          <a:p>
            <a:pPr marL="563880" lvl="2" indent="-150495">
              <a:lnSpc>
                <a:spcPts val="2375"/>
              </a:lnSpc>
              <a:buChar char="-"/>
              <a:tabLst>
                <a:tab pos="563880" algn="l"/>
              </a:tabLst>
            </a:pPr>
            <a:r>
              <a:rPr sz="2200" spc="-140" dirty="0">
                <a:latin typeface="Times New Roman"/>
                <a:cs typeface="Times New Roman"/>
              </a:rPr>
              <a:t>main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14" dirty="0">
                <a:latin typeface="Times New Roman"/>
                <a:cs typeface="Times New Roman"/>
              </a:rPr>
              <a:t>memory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45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Times New Roman"/>
                <a:cs typeface="Times New Roman"/>
              </a:rPr>
              <a:t>not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85" dirty="0">
                <a:latin typeface="Times New Roman"/>
                <a:cs typeface="Times New Roman"/>
              </a:rPr>
              <a:t>always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95" dirty="0">
                <a:latin typeface="Times New Roman"/>
                <a:cs typeface="Times New Roman"/>
              </a:rPr>
              <a:t>consistent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90" dirty="0">
                <a:latin typeface="Times New Roman"/>
                <a:cs typeface="Times New Roman"/>
              </a:rPr>
              <a:t>with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cache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Write</a:t>
            </a:r>
            <a:r>
              <a:rPr spc="-135" dirty="0"/>
              <a:t> </a:t>
            </a:r>
            <a:r>
              <a:rPr spc="-30" dirty="0"/>
              <a:t>allocate</a:t>
            </a:r>
            <a:r>
              <a:rPr spc="-130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spc="-95" dirty="0"/>
              <a:t>Write</a:t>
            </a:r>
            <a:r>
              <a:rPr spc="-130" dirty="0"/>
              <a:t> </a:t>
            </a:r>
            <a:r>
              <a:rPr spc="-10" dirty="0"/>
              <a:t>around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374940"/>
            <a:ext cx="7613650" cy="372173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56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Write-Around</a:t>
            </a:r>
            <a:endParaRPr sz="2600">
              <a:latin typeface="Times New Roman"/>
              <a:cs typeface="Times New Roman"/>
            </a:endParaRPr>
          </a:p>
          <a:p>
            <a:pPr marL="560070" lvl="1" indent="-231775">
              <a:lnSpc>
                <a:spcPct val="100000"/>
              </a:lnSpc>
              <a:spcBef>
                <a:spcPts val="430"/>
              </a:spcBef>
              <a:buClr>
                <a:srgbClr val="DA1F28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sz="2400" b="1" dirty="0">
                <a:latin typeface="Times New Roman"/>
                <a:cs typeface="Times New Roman"/>
              </a:rPr>
              <a:t>correspond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60" dirty="0">
                <a:latin typeface="Times New Roman"/>
                <a:cs typeface="Times New Roman"/>
              </a:rPr>
              <a:t>to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items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not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currently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cache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(i.e.</a:t>
            </a:r>
            <a:endParaRPr sz="2400">
              <a:latin typeface="Times New Roman"/>
              <a:cs typeface="Times New Roman"/>
            </a:endParaRPr>
          </a:p>
          <a:p>
            <a:pPr marL="560705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write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misses)</a:t>
            </a:r>
            <a:endParaRPr sz="2400">
              <a:latin typeface="Times New Roman"/>
              <a:cs typeface="Times New Roman"/>
            </a:endParaRPr>
          </a:p>
          <a:p>
            <a:pPr marL="560705" marR="808990" lvl="1" indent="-232410">
              <a:lnSpc>
                <a:spcPct val="100000"/>
              </a:lnSpc>
              <a:spcBef>
                <a:spcPts val="400"/>
              </a:spcBef>
              <a:buClr>
                <a:srgbClr val="DA1F28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item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could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updated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main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memory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only </a:t>
            </a:r>
            <a:r>
              <a:rPr sz="2400" b="1" dirty="0">
                <a:latin typeface="Times New Roman"/>
                <a:cs typeface="Times New Roman"/>
              </a:rPr>
              <a:t>without</a:t>
            </a:r>
            <a:r>
              <a:rPr sz="2400" b="1" spc="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affecting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cache.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95"/>
              </a:spcBef>
              <a:buClr>
                <a:srgbClr val="DA1F28"/>
              </a:buClr>
              <a:buFont typeface="Segoe UI Symbol"/>
              <a:buChar char="⚫"/>
            </a:pPr>
            <a:endParaRPr sz="24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buClr>
                <a:srgbClr val="2CA1BE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Write-Allocate</a:t>
            </a:r>
            <a:endParaRPr sz="2600">
              <a:latin typeface="Times New Roman"/>
              <a:cs typeface="Times New Roman"/>
            </a:endParaRPr>
          </a:p>
          <a:p>
            <a:pPr marL="560705" marR="5080" lvl="1" indent="-232410">
              <a:lnSpc>
                <a:spcPct val="100000"/>
              </a:lnSpc>
              <a:spcBef>
                <a:spcPts val="430"/>
              </a:spcBef>
              <a:buClr>
                <a:srgbClr val="DA1F28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b="1" dirty="0">
                <a:latin typeface="Times New Roman"/>
                <a:cs typeface="Times New Roman"/>
              </a:rPr>
              <a:t>update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item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main</a:t>
            </a:r>
            <a:r>
              <a:rPr sz="2400" b="1" spc="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memory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bring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block </a:t>
            </a:r>
            <a:r>
              <a:rPr sz="2400" b="1" dirty="0">
                <a:latin typeface="Times New Roman"/>
                <a:cs typeface="Times New Roman"/>
              </a:rPr>
              <a:t>containing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updated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item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into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cache.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477977"/>
            <a:ext cx="8220075" cy="1732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spc="-1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000000"/>
                </a:solidFill>
                <a:latin typeface="Times New Roman"/>
                <a:cs typeface="Times New Roman"/>
              </a:rPr>
              <a:t>two-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way</a:t>
            </a:r>
            <a:r>
              <a:rPr sz="2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set</a:t>
            </a:r>
            <a:r>
              <a:rPr sz="2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associative</a:t>
            </a:r>
            <a:r>
              <a:rPr sz="2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cache has</a:t>
            </a:r>
            <a:r>
              <a:rPr sz="28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lines</a:t>
            </a:r>
            <a:r>
              <a:rPr sz="28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of 16 bytes</a:t>
            </a:r>
            <a:r>
              <a:rPr sz="2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Times New Roman"/>
                <a:cs typeface="Times New Roman"/>
              </a:rPr>
              <a:t>and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total</a:t>
            </a:r>
            <a:r>
              <a:rPr sz="28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size</a:t>
            </a:r>
            <a:r>
              <a:rPr sz="28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8k</a:t>
            </a:r>
            <a:r>
              <a:rPr sz="28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bytes.</a:t>
            </a:r>
            <a:r>
              <a:rPr sz="280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8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solidFill>
                  <a:srgbClr val="000000"/>
                </a:solidFill>
                <a:latin typeface="Times New Roman"/>
                <a:cs typeface="Times New Roman"/>
              </a:rPr>
              <a:t>64-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Mbyte</a:t>
            </a:r>
            <a:r>
              <a:rPr sz="28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main</a:t>
            </a:r>
            <a:r>
              <a:rPr sz="28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memory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Times New Roman"/>
                <a:cs typeface="Times New Roman"/>
              </a:rPr>
              <a:t>is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byte</a:t>
            </a:r>
            <a:r>
              <a:rPr sz="2800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addressable.</a:t>
            </a:r>
            <a:r>
              <a:rPr sz="28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Show</a:t>
            </a:r>
            <a:r>
              <a:rPr sz="2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8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format</a:t>
            </a:r>
            <a:r>
              <a:rPr sz="28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main</a:t>
            </a:r>
            <a:r>
              <a:rPr sz="28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Times New Roman"/>
                <a:cs typeface="Times New Roman"/>
              </a:rPr>
              <a:t>memory addresses.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5838" y="6273495"/>
            <a:ext cx="25914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V.Saritha@VIT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University,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SCSE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4982" y="482930"/>
            <a:ext cx="25742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Arial MT"/>
                <a:cs typeface="Arial MT"/>
              </a:rPr>
              <a:t>Problem</a:t>
            </a:r>
            <a:r>
              <a:rPr sz="44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4400" spc="-50" dirty="0">
                <a:solidFill>
                  <a:srgbClr val="000000"/>
                </a:solidFill>
                <a:latin typeface="Arial MT"/>
                <a:cs typeface="Arial MT"/>
              </a:rPr>
              <a:t>2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dirty="0"/>
              <a:t>A</a:t>
            </a:r>
            <a:r>
              <a:rPr spc="-55" dirty="0"/>
              <a:t> </a:t>
            </a:r>
            <a:r>
              <a:rPr spc="-25" dirty="0"/>
              <a:t>two-</a:t>
            </a:r>
            <a:r>
              <a:rPr dirty="0"/>
              <a:t>way</a:t>
            </a:r>
            <a:r>
              <a:rPr spc="-30" dirty="0"/>
              <a:t> </a:t>
            </a:r>
            <a:r>
              <a:rPr dirty="0"/>
              <a:t>set</a:t>
            </a:r>
            <a:r>
              <a:rPr spc="-50" dirty="0"/>
              <a:t> </a:t>
            </a:r>
            <a:r>
              <a:rPr dirty="0"/>
              <a:t>associative</a:t>
            </a:r>
            <a:r>
              <a:rPr spc="-50" dirty="0"/>
              <a:t> </a:t>
            </a:r>
            <a:r>
              <a:rPr dirty="0"/>
              <a:t>cache</a:t>
            </a:r>
            <a:r>
              <a:rPr spc="-50" dirty="0"/>
              <a:t> </a:t>
            </a:r>
            <a:r>
              <a:rPr dirty="0"/>
              <a:t>has</a:t>
            </a:r>
            <a:r>
              <a:rPr spc="-45" dirty="0"/>
              <a:t> </a:t>
            </a:r>
            <a:r>
              <a:rPr dirty="0"/>
              <a:t>lines</a:t>
            </a:r>
            <a:r>
              <a:rPr spc="-4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16 </a:t>
            </a:r>
            <a:r>
              <a:rPr dirty="0"/>
              <a:t>bytes</a:t>
            </a:r>
            <a:r>
              <a:rPr spc="-5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total</a:t>
            </a:r>
            <a:r>
              <a:rPr spc="-50" dirty="0"/>
              <a:t> </a:t>
            </a:r>
            <a:r>
              <a:rPr dirty="0"/>
              <a:t>size</a:t>
            </a:r>
            <a:r>
              <a:rPr spc="-5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8k</a:t>
            </a:r>
            <a:r>
              <a:rPr spc="-45" dirty="0"/>
              <a:t> </a:t>
            </a:r>
            <a:r>
              <a:rPr dirty="0"/>
              <a:t>bytes.</a:t>
            </a:r>
            <a:r>
              <a:rPr spc="-4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64-Mbyte </a:t>
            </a:r>
            <a:r>
              <a:rPr dirty="0"/>
              <a:t>main</a:t>
            </a:r>
            <a:r>
              <a:rPr spc="-65" dirty="0"/>
              <a:t> </a:t>
            </a:r>
            <a:r>
              <a:rPr dirty="0"/>
              <a:t>memory</a:t>
            </a:r>
            <a:r>
              <a:rPr spc="-70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byte</a:t>
            </a:r>
            <a:r>
              <a:rPr spc="-85" dirty="0"/>
              <a:t> </a:t>
            </a:r>
            <a:r>
              <a:rPr dirty="0"/>
              <a:t>addressable.</a:t>
            </a:r>
            <a:r>
              <a:rPr spc="-75" dirty="0"/>
              <a:t> </a:t>
            </a:r>
            <a:r>
              <a:rPr dirty="0"/>
              <a:t>Show</a:t>
            </a:r>
            <a:r>
              <a:rPr spc="-75" dirty="0"/>
              <a:t> </a:t>
            </a:r>
            <a:r>
              <a:rPr spc="-25" dirty="0"/>
              <a:t>the </a:t>
            </a:r>
            <a:r>
              <a:rPr dirty="0"/>
              <a:t>format</a:t>
            </a:r>
            <a:r>
              <a:rPr spc="-65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main</a:t>
            </a:r>
            <a:r>
              <a:rPr spc="-55" dirty="0"/>
              <a:t> </a:t>
            </a:r>
            <a:r>
              <a:rPr dirty="0"/>
              <a:t>memory</a:t>
            </a:r>
            <a:r>
              <a:rPr spc="-45" dirty="0"/>
              <a:t> </a:t>
            </a:r>
            <a:r>
              <a:rPr spc="-10" dirty="0"/>
              <a:t>addresses.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12" y="3505277"/>
            <a:ext cx="8681441" cy="327652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540" y="672744"/>
            <a:ext cx="7989570" cy="472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30480" indent="-343535">
              <a:lnSpc>
                <a:spcPct val="110000"/>
              </a:lnSpc>
              <a:spcBef>
                <a:spcPts val="100"/>
              </a:spcBef>
              <a:buChar char="•"/>
              <a:tabLst>
                <a:tab pos="381000" algn="l"/>
              </a:tabLst>
            </a:pPr>
            <a:r>
              <a:rPr sz="2800" dirty="0">
                <a:latin typeface="Arial MT"/>
                <a:cs typeface="Arial MT"/>
              </a:rPr>
              <a:t>Consider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memory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775" baseline="-21021" dirty="0">
                <a:latin typeface="Arial MT"/>
                <a:cs typeface="Arial MT"/>
              </a:rPr>
              <a:t>c</a:t>
            </a:r>
            <a:r>
              <a:rPr sz="2775" spc="315" baseline="-21021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100ns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775" baseline="-21021" dirty="0">
                <a:latin typeface="Arial MT"/>
                <a:cs typeface="Arial MT"/>
              </a:rPr>
              <a:t>m</a:t>
            </a:r>
            <a:r>
              <a:rPr sz="2775" spc="307" baseline="-21021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1200ns.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effective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access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10% </a:t>
            </a:r>
            <a:r>
              <a:rPr sz="2800" dirty="0">
                <a:latin typeface="Arial MT"/>
                <a:cs typeface="Arial MT"/>
              </a:rPr>
              <a:t>greater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cache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access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what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hit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ratio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look-</a:t>
            </a:r>
            <a:r>
              <a:rPr sz="2800" dirty="0">
                <a:latin typeface="Arial MT"/>
                <a:cs typeface="Arial MT"/>
              </a:rPr>
              <a:t>through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cache?</a:t>
            </a:r>
            <a:endParaRPr sz="2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Symbol"/>
                <a:cs typeface="Symbol"/>
              </a:rPr>
              <a:t>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775" baseline="-21021" dirty="0">
                <a:latin typeface="Arial MT"/>
                <a:cs typeface="Arial MT"/>
              </a:rPr>
              <a:t>A</a:t>
            </a:r>
            <a:r>
              <a:rPr sz="2775" spc="352" baseline="-21021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775" baseline="-21021" dirty="0">
                <a:latin typeface="Arial MT"/>
                <a:cs typeface="Arial MT"/>
              </a:rPr>
              <a:t>C</a:t>
            </a:r>
            <a:r>
              <a:rPr sz="2775" spc="367" baseline="-21021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(1-h)*T</a:t>
            </a:r>
            <a:r>
              <a:rPr sz="2775" spc="-15" baseline="-21021" dirty="0">
                <a:latin typeface="Arial MT"/>
                <a:cs typeface="Arial MT"/>
              </a:rPr>
              <a:t>M</a:t>
            </a:r>
            <a:endParaRPr sz="2775" baseline="-21021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Symbol"/>
                <a:cs typeface="Symbol"/>
              </a:rPr>
              <a:t></a:t>
            </a:r>
            <a:r>
              <a:rPr sz="2800" dirty="0">
                <a:latin typeface="Arial MT"/>
                <a:cs typeface="Arial MT"/>
              </a:rPr>
              <a:t>1.1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775" baseline="-21021" dirty="0">
                <a:latin typeface="Arial MT"/>
                <a:cs typeface="Arial MT"/>
              </a:rPr>
              <a:t>c</a:t>
            </a:r>
            <a:r>
              <a:rPr sz="2775" spc="359" baseline="-21021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775" baseline="-21021" dirty="0">
                <a:latin typeface="Arial MT"/>
                <a:cs typeface="Arial MT"/>
              </a:rPr>
              <a:t>c</a:t>
            </a:r>
            <a:r>
              <a:rPr sz="2775" spc="359" baseline="-21021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10" dirty="0">
                <a:latin typeface="Arial MT"/>
                <a:cs typeface="Arial MT"/>
              </a:rPr>
              <a:t> (1-</a:t>
            </a:r>
            <a:r>
              <a:rPr sz="2800" spc="-20" dirty="0">
                <a:latin typeface="Arial MT"/>
                <a:cs typeface="Arial MT"/>
              </a:rPr>
              <a:t>h)*T</a:t>
            </a:r>
            <a:r>
              <a:rPr sz="2775" spc="-30" baseline="-21021" dirty="0">
                <a:latin typeface="Arial MT"/>
                <a:cs typeface="Arial MT"/>
              </a:rPr>
              <a:t>M</a:t>
            </a:r>
            <a:endParaRPr sz="2775" baseline="-21021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latin typeface="Symbol"/>
                <a:cs typeface="Symbol"/>
              </a:rPr>
              <a:t></a:t>
            </a:r>
            <a:r>
              <a:rPr sz="2800" dirty="0">
                <a:latin typeface="Arial MT"/>
                <a:cs typeface="Arial MT"/>
              </a:rPr>
              <a:t>0.1T</a:t>
            </a:r>
            <a:r>
              <a:rPr sz="2775" baseline="-21021" dirty="0">
                <a:latin typeface="Arial MT"/>
                <a:cs typeface="Arial MT"/>
              </a:rPr>
              <a:t>C</a:t>
            </a:r>
            <a:r>
              <a:rPr sz="2775" spc="345" baseline="-21021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(1-</a:t>
            </a:r>
            <a:r>
              <a:rPr sz="2800" dirty="0">
                <a:latin typeface="Arial MT"/>
                <a:cs typeface="Arial MT"/>
              </a:rPr>
              <a:t>h)*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</a:t>
            </a:r>
            <a:r>
              <a:rPr sz="2775" spc="-37" baseline="-21021" dirty="0">
                <a:latin typeface="Arial MT"/>
                <a:cs typeface="Arial MT"/>
              </a:rPr>
              <a:t>M</a:t>
            </a:r>
            <a:endParaRPr sz="2775" baseline="-21021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Symbol"/>
                <a:cs typeface="Symbol"/>
              </a:rPr>
              <a:t></a:t>
            </a:r>
            <a:r>
              <a:rPr sz="2800" dirty="0">
                <a:latin typeface="Arial MT"/>
                <a:cs typeface="Arial MT"/>
              </a:rPr>
              <a:t>0.1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*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100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(1-</a:t>
            </a:r>
            <a:r>
              <a:rPr sz="2800" dirty="0">
                <a:latin typeface="Arial MT"/>
                <a:cs typeface="Arial MT"/>
              </a:rPr>
              <a:t>h)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*1200</a:t>
            </a:r>
            <a:endParaRPr sz="2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2800" spc="-25" dirty="0">
                <a:latin typeface="Symbol"/>
                <a:cs typeface="Symbol"/>
              </a:rPr>
              <a:t></a:t>
            </a:r>
            <a:r>
              <a:rPr sz="2800" spc="-25" dirty="0">
                <a:latin typeface="Arial MT"/>
                <a:cs typeface="Arial MT"/>
              </a:rPr>
              <a:t>1-</a:t>
            </a:r>
            <a:r>
              <a:rPr sz="2800" dirty="0">
                <a:latin typeface="Arial MT"/>
                <a:cs typeface="Arial MT"/>
              </a:rPr>
              <a:t>h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10/1200</a:t>
            </a:r>
            <a:endParaRPr sz="2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2800" dirty="0">
                <a:latin typeface="Symbol"/>
                <a:cs typeface="Symbol"/>
              </a:rPr>
              <a:t></a:t>
            </a:r>
            <a:r>
              <a:rPr sz="2800" dirty="0">
                <a:latin typeface="Arial MT"/>
                <a:cs typeface="Arial MT"/>
              </a:rPr>
              <a:t>h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1190/1200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640600-2922-3A6D-F9D8-71F87BEF400A}"/>
              </a:ext>
            </a:extLst>
          </p:cNvPr>
          <p:cNvSpPr txBox="1"/>
          <p:nvPr/>
        </p:nvSpPr>
        <p:spPr>
          <a:xfrm>
            <a:off x="228600" y="76200"/>
            <a:ext cx="838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lang="en-US" sz="18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computer</a:t>
            </a:r>
            <a:r>
              <a:rPr lang="en-US" sz="1800" b="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lang="en-US" sz="1800" b="0" spc="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employs</a:t>
            </a:r>
            <a:r>
              <a:rPr lang="en-US" sz="1800" b="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lang="en-US" sz="1800" b="0" spc="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write-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back</a:t>
            </a:r>
            <a:r>
              <a:rPr lang="en-US" sz="1800" b="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cache</a:t>
            </a:r>
            <a:r>
              <a:rPr lang="en-US" sz="1800" b="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with</a:t>
            </a:r>
            <a:r>
              <a:rPr lang="en-US" sz="1800" b="0" spc="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lang="en-US" sz="1800" b="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90%</a:t>
            </a:r>
            <a:r>
              <a:rPr lang="en-US" sz="1800" b="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hit</a:t>
            </a:r>
            <a:r>
              <a:rPr lang="en-US" sz="1800" b="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ratio</a:t>
            </a:r>
            <a:r>
              <a:rPr lang="en-US" sz="1800" b="0" spc="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lang="en-US" sz="1800" b="0" spc="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writes.</a:t>
            </a:r>
            <a:r>
              <a:rPr lang="en-US" sz="1800" b="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lang="en-US" sz="1800" b="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cache</a:t>
            </a:r>
            <a:r>
              <a:rPr lang="en-US" sz="1800" b="0" spc="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operates</a:t>
            </a:r>
            <a:r>
              <a:rPr lang="en-US" sz="1800" b="0" spc="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in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"Look</a:t>
            </a:r>
            <a:r>
              <a:rPr lang="en-US" sz="1800" b="0" spc="2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Through"</a:t>
            </a:r>
            <a:r>
              <a:rPr lang="en-US" sz="1800" b="0" spc="2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lang="en-US" sz="1800" b="0" spc="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has</a:t>
            </a:r>
            <a:r>
              <a:rPr lang="en-US" sz="1800" b="0" spc="2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lang="en-US" sz="1800" b="0" spc="1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80%</a:t>
            </a:r>
            <a:r>
              <a:rPr lang="en-US" sz="1800" b="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read</a:t>
            </a:r>
            <a:r>
              <a:rPr lang="en-US" sz="1800" b="0" spc="2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hit</a:t>
            </a:r>
            <a:r>
              <a:rPr lang="en-US" sz="1800" b="0" spc="1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ratio.</a:t>
            </a:r>
            <a:r>
              <a:rPr lang="en-US" sz="1800" b="0" spc="2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Reads</a:t>
            </a:r>
            <a:r>
              <a:rPr lang="en-US" sz="1800" b="0" spc="2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account</a:t>
            </a:r>
            <a:r>
              <a:rPr lang="en-US" sz="1800" b="0" spc="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lang="en-US" sz="1800" b="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60%</a:t>
            </a:r>
            <a:r>
              <a:rPr lang="en-US" sz="1800" b="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lang="en-US" sz="1800" b="0" spc="2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all</a:t>
            </a:r>
            <a:r>
              <a:rPr lang="en-US" sz="1800" b="0" spc="1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memory</a:t>
            </a:r>
            <a:r>
              <a:rPr lang="en-US" sz="1800" b="0" spc="2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references</a:t>
            </a:r>
            <a:r>
              <a:rPr lang="en-US" sz="1800" b="0" spc="1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and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writes</a:t>
            </a:r>
            <a:r>
              <a:rPr lang="en-US" sz="18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account</a:t>
            </a:r>
            <a:r>
              <a:rPr lang="en-US" sz="1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for 40%.If the</a:t>
            </a:r>
            <a:r>
              <a:rPr lang="en-US" sz="1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main</a:t>
            </a:r>
            <a:r>
              <a:rPr lang="en-US" sz="1800" b="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memory</a:t>
            </a:r>
            <a:r>
              <a:rPr lang="en-US" sz="18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cycle</a:t>
            </a:r>
            <a:r>
              <a:rPr lang="en-US" sz="18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time</a:t>
            </a:r>
            <a:r>
              <a:rPr lang="en-US" sz="18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lang="en-US" sz="18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300ns and the cache</a:t>
            </a:r>
            <a:r>
              <a:rPr lang="en-US" sz="18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access time</a:t>
            </a:r>
            <a:r>
              <a:rPr lang="en-US" sz="18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lang="en-US" sz="18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30ns,</a:t>
            </a:r>
            <a:r>
              <a:rPr lang="en-US" sz="18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what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would</a:t>
            </a:r>
            <a:r>
              <a:rPr lang="en-US" sz="1800" b="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be</a:t>
            </a:r>
            <a:r>
              <a:rPr lang="en-US" sz="1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lang="en-US"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average</a:t>
            </a:r>
            <a:r>
              <a:rPr lang="en-US" sz="1800" b="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access</a:t>
            </a:r>
            <a:r>
              <a:rPr lang="en-US" sz="1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time</a:t>
            </a:r>
            <a:r>
              <a:rPr lang="en-US" sz="18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lang="en-US" sz="18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all</a:t>
            </a:r>
            <a:r>
              <a:rPr lang="en-US" sz="1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references</a:t>
            </a:r>
            <a:r>
              <a:rPr lang="en-US" sz="1800" b="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(reads</a:t>
            </a:r>
            <a:r>
              <a:rPr lang="en-US" sz="1800" b="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lang="en-US" sz="1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well</a:t>
            </a:r>
            <a:r>
              <a:rPr lang="en-US" sz="1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lang="en-US" sz="1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 writes)?</a:t>
            </a:r>
            <a:endParaRPr lang="en-IN" dirty="0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0184E400-8286-8CBD-7AFE-983C47355926}"/>
              </a:ext>
            </a:extLst>
          </p:cNvPr>
          <p:cNvGrpSpPr/>
          <p:nvPr/>
        </p:nvGrpSpPr>
        <p:grpSpPr>
          <a:xfrm>
            <a:off x="304800" y="1674848"/>
            <a:ext cx="8738741" cy="4958080"/>
            <a:chOff x="1748026" y="1674848"/>
            <a:chExt cx="7295515" cy="495808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FDDC2B4F-036A-2B4A-B140-DE3D3E904F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8026" y="1674848"/>
              <a:ext cx="7295391" cy="4957613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F3A9D86-2D3A-E3A1-CDB3-2BBD19D97E7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2891" y="1720596"/>
              <a:ext cx="7135368" cy="4806696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2A86DE84-15B0-FBCB-752F-E003565028D4}"/>
                </a:ext>
              </a:extLst>
            </p:cNvPr>
            <p:cNvSpPr/>
            <p:nvPr/>
          </p:nvSpPr>
          <p:spPr>
            <a:xfrm>
              <a:off x="1783841" y="1701546"/>
              <a:ext cx="7173595" cy="4845050"/>
            </a:xfrm>
            <a:custGeom>
              <a:avLst/>
              <a:gdLst/>
              <a:ahLst/>
              <a:cxnLst/>
              <a:rect l="l" t="t" r="r" b="b"/>
              <a:pathLst>
                <a:path w="7173595" h="4845050">
                  <a:moveTo>
                    <a:pt x="0" y="4844796"/>
                  </a:moveTo>
                  <a:lnTo>
                    <a:pt x="7173468" y="4844796"/>
                  </a:lnTo>
                  <a:lnTo>
                    <a:pt x="7173468" y="0"/>
                  </a:lnTo>
                  <a:lnTo>
                    <a:pt x="0" y="0"/>
                  </a:lnTo>
                  <a:lnTo>
                    <a:pt x="0" y="484479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07551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33830"/>
            <a:ext cx="7627620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05" dirty="0">
                <a:latin typeface="Times New Roman"/>
                <a:cs typeface="Times New Roman"/>
              </a:rPr>
              <a:t>J.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L.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50" dirty="0">
                <a:latin typeface="Times New Roman"/>
                <a:cs typeface="Times New Roman"/>
              </a:rPr>
              <a:t>Hennessy</a:t>
            </a:r>
            <a:r>
              <a:rPr sz="2600" spc="150" dirty="0">
                <a:latin typeface="Times New Roman"/>
                <a:cs typeface="Times New Roman"/>
              </a:rPr>
              <a:t> </a:t>
            </a:r>
            <a:r>
              <a:rPr sz="2600" spc="-430" dirty="0">
                <a:latin typeface="Times New Roman"/>
                <a:cs typeface="Times New Roman"/>
              </a:rPr>
              <a:t>&amp;</a:t>
            </a:r>
            <a:r>
              <a:rPr sz="2600" spc="15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D.A.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Times New Roman"/>
                <a:cs typeface="Times New Roman"/>
              </a:rPr>
              <a:t>Patterson,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Computer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architecture: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340" dirty="0">
                <a:latin typeface="Times New Roman"/>
                <a:cs typeface="Times New Roman"/>
              </a:rPr>
              <a:t>A</a:t>
            </a:r>
            <a:r>
              <a:rPr sz="2600" spc="-120" dirty="0">
                <a:latin typeface="Times New Roman"/>
                <a:cs typeface="Times New Roman"/>
              </a:rPr>
              <a:t> 	quantitative</a:t>
            </a:r>
            <a:r>
              <a:rPr sz="2600" spc="78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approach,</a:t>
            </a:r>
            <a:r>
              <a:rPr sz="2600" spc="67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Fourth</a:t>
            </a:r>
            <a:r>
              <a:rPr sz="2600" spc="77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Edition,</a:t>
            </a:r>
            <a:r>
              <a:rPr sz="2600" spc="660" dirty="0">
                <a:latin typeface="Times New Roman"/>
                <a:cs typeface="Times New Roman"/>
              </a:rPr>
              <a:t> </a:t>
            </a:r>
            <a:r>
              <a:rPr sz="2600" spc="-160" dirty="0">
                <a:latin typeface="Times New Roman"/>
                <a:cs typeface="Times New Roman"/>
              </a:rPr>
              <a:t>Morgan</a:t>
            </a:r>
            <a:r>
              <a:rPr sz="2600" spc="775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Kaufman,</a:t>
            </a:r>
            <a:r>
              <a:rPr sz="2600" spc="-50" dirty="0">
                <a:latin typeface="Times New Roman"/>
                <a:cs typeface="Times New Roman"/>
              </a:rPr>
              <a:t> 	</a:t>
            </a:r>
            <a:r>
              <a:rPr sz="2600" spc="-80" dirty="0">
                <a:latin typeface="Times New Roman"/>
                <a:cs typeface="Times New Roman"/>
              </a:rPr>
              <a:t>2004.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</TotalTime>
  <Words>1665</Words>
  <Application>Microsoft Office PowerPoint</Application>
  <PresentationFormat>On-screen Show (4:3)</PresentationFormat>
  <Paragraphs>201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MT</vt:lpstr>
      <vt:lpstr>Calibri</vt:lpstr>
      <vt:lpstr>Franklin Gothic Medium</vt:lpstr>
      <vt:lpstr>Segoe UI Symbol</vt:lpstr>
      <vt:lpstr>Symbol</vt:lpstr>
      <vt:lpstr>Times New Roman</vt:lpstr>
      <vt:lpstr>Wingdings</vt:lpstr>
      <vt:lpstr>Office Theme</vt:lpstr>
      <vt:lpstr>Cache Memory</vt:lpstr>
      <vt:lpstr>Cache</vt:lpstr>
      <vt:lpstr>Cache</vt:lpstr>
      <vt:lpstr>Locality of Reference</vt:lpstr>
      <vt:lpstr>Parameters of Cache memory</vt:lpstr>
      <vt:lpstr>PowerPoint Presentation</vt:lpstr>
      <vt:lpstr>PowerPoint Presentation</vt:lpstr>
      <vt:lpstr>Example</vt:lpstr>
      <vt:lpstr>PowerPoint Presentation</vt:lpstr>
      <vt:lpstr>PowerPoint Presentation</vt:lpstr>
      <vt:lpstr>Direct Mapping from Cache to Main Memory</vt:lpstr>
      <vt:lpstr>PowerPoint Presentation</vt:lpstr>
      <vt:lpstr>Direct Mapping</vt:lpstr>
      <vt:lpstr>Operation</vt:lpstr>
      <vt:lpstr>PowerPoint Presentation</vt:lpstr>
      <vt:lpstr>PowerPoint Presentation</vt:lpstr>
      <vt:lpstr>Direct Mapping pros &amp; cons</vt:lpstr>
      <vt:lpstr>Associative Mapping</vt:lpstr>
      <vt:lpstr>Set-Associative Mapping</vt:lpstr>
      <vt:lpstr>PowerPoint Presentation</vt:lpstr>
      <vt:lpstr>Problems</vt:lpstr>
      <vt:lpstr>Performance analysis</vt:lpstr>
      <vt:lpstr>PowerPoint Presentation</vt:lpstr>
      <vt:lpstr>PowerPoint Presentation</vt:lpstr>
      <vt:lpstr>Source of Cache misses</vt:lpstr>
      <vt:lpstr>Block Replacement</vt:lpstr>
      <vt:lpstr>Update policies</vt:lpstr>
      <vt:lpstr>Write through</vt:lpstr>
      <vt:lpstr>Write back</vt:lpstr>
      <vt:lpstr>Write allocate and Write around</vt:lpstr>
      <vt:lpstr>A two-way set associative cache has lines of 16 bytes and a total size of 8k bytes. The 64-Mbyte main memory is byte addressable. Show the format of main memory addresses.</vt:lpstr>
      <vt:lpstr>Problem 2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 Memory</dc:title>
  <dc:creator>VIT</dc:creator>
  <cp:lastModifiedBy>Ushus Elizebeth Zachariah</cp:lastModifiedBy>
  <cp:revision>5</cp:revision>
  <dcterms:created xsi:type="dcterms:W3CDTF">2026-02-19T12:51:40Z</dcterms:created>
  <dcterms:modified xsi:type="dcterms:W3CDTF">2026-03-05T05:03:50Z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2026-02-19T00:00:00Z</vt:filetime>
  </property>
  <property fmtid="{D5CDD505-2E9C-101B-9397-08002B2CF9AE}" pid="5" name="Producer">
    <vt:lpwstr>Microsoft® PowerPoint® 2010</vt:lpwstr>
  </property>
</Properties>
</file>